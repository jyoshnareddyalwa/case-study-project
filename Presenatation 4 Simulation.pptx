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 (lower=better)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RGB-D Only</c:v>
                </c:pt>
                <c:pt idx="1">
                  <c:v>Fluorescence Only</c:v>
                </c:pt>
                <c:pt idx="2">
                  <c:v>Kalman/EKF</c:v>
                </c:pt>
                <c:pt idx="3">
                  <c:v>Bayes Fusion</c:v>
                </c:pt>
                <c:pt idx="4">
                  <c:v>Proposed (Bayes+GP)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</c:v>
                </c:pt>
                <c:pt idx="1">
                  <c:v>0.01</c:v>
                </c:pt>
                <c:pt idx="2">
                  <c:v>8.0000000000000002E-3</c:v>
                </c:pt>
                <c:pt idx="3">
                  <c:v>7.3499999999999998E-3</c:v>
                </c:pt>
                <c:pt idx="4">
                  <c:v>7.3499999999999998E-3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78537520"/>
        <c:axId val="1078539696"/>
      </c:barChart>
      <c:catAx>
        <c:axId val="107853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8"/>
                </a:solidFill>
                <a:latin typeface="Arial"/>
              </a:defRPr>
            </a:pPr>
            <a:endParaRPr lang="en-US"/>
          </a:p>
        </c:txPr>
        <c:crossAx val="1078539696"/>
        <c:crosses val="autoZero"/>
        <c:auto val="1"/>
        <c:lblAlgn val="ctr"/>
        <c:lblOffset val="100"/>
        <c:noMultiLvlLbl val="1"/>
      </c:catAx>
      <c:valAx>
        <c:axId val="107853969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8"/>
                </a:solidFill>
                <a:latin typeface="Arial"/>
              </a:defRPr>
            </a:pPr>
            <a:endParaRPr lang="en-US"/>
          </a:p>
        </c:txPr>
        <c:crossAx val="107853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28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55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full Bayesian Sensor Fusion and GP Mapping framework, including the 3x3 MATLAB grid simulation, sensor accuracy comparison, and GP vs Kalman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core problems motivating our work. Existing systems lack: (1) automatic contamination detection, (2) real biological verification, (3) sensor-driven HRC.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modular. Raw sensor data flows through four sequential layers. Each layer can be updated independently — key for future hardware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for your professor: values are not arbitrary. Each is grounded in physical reasoning about the sensor and the contamination domain. Sensitivity analysis proves they don't need to be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precision = 1/variance. Fluorescence at precision 100 vs RGB-D at 25 means fluorescence gets 4x more weight automatically. No manual tuning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comparison for your professor. Kalman cannot propagate to unobserved locations. GP can. That 80% coverage improvement is the decisive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3x3 grid. 5 patches observed by both sensors. 4 unobserved — GP estimates their contamination from spatial correlation. Patch 4 (0.904) and 7 (~0.80) are highest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all 5 observed patches share the same fused variance 0.00735 because they all used the same sensor pair. The mean varies based on the actual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GP uses the kernel to borrow information from neighboring observed patches. Patch 7 is strongly correlated with the two most contaminated observed patches, so it inherits a high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your three headline numbers. 91.8%, 81.6%, and 80% coverage improvement. Memorize them for your professor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proof of robustness. The framework didn't need a fault detection algorithm — the math handles it automatically through precision weighting.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the three headline numbers and the roadmap. The framework is analytically validated — simulation and hardware are the clear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mtClean="0">
                <a:solidFill>
                  <a:srgbClr val="FFFFFF"/>
                </a:solidFill>
              </a:rPr>
              <a:t>Session 4: Simulation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Sensor Fusion &amp;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Process Mapping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Human–Robot Collaborative Hygiene Monitoring and Surface Disinfection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</a:p>
          <a:p>
            <a:pPr marL="0" indent="0">
              <a:buNone/>
            </a:pPr>
            <a:r>
              <a:rPr lang="en-US" sz="1300" dirty="0" smtClean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Group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06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98448"/>
            <a:ext cx="27432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Contamination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Most robots navigate and spray UV without detecting if surfaces are actually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contaminated                             </a:t>
            </a:r>
          </a:p>
          <a:p>
            <a:pPr marL="0" indent="0" algn="l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 smtClean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 smtClean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 smtClean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 dirty="0" smtClean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306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98448"/>
            <a:ext cx="274320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Cleanliness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6002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confirm UV path execution — not biological cleanliness or pathogen removal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43200" cy="306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058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298448"/>
            <a:ext cx="27432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024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Perception-Limited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16002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Human operators carry full cognitive burden for surface identification in clinical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environments.</a:t>
            </a:r>
          </a:p>
          <a:p>
            <a:pPr marL="0" indent="0" algn="l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 smtClean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Limited Sensor Fusion and </a:t>
            </a:r>
            <a:r>
              <a:rPr lang="pt-BR" sz="1200" dirty="0"/>
              <a:t>No continuous spatial hygiene map</a:t>
            </a: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 smtClean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 smtClean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 Addresses All 5</a:t>
            </a:r>
            <a:r>
              <a:rPr lang="en-US" sz="1200" b="1" i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Identified Gaps in the </a:t>
            </a:r>
            <a:r>
              <a:rPr lang="en-US" sz="1200" b="1" i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960120"/>
            <a:ext cx="54864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SENSING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005840"/>
            <a:ext cx="6035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(T1, T2) · ATP (T7) — real RLU values from published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64792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920240"/>
            <a:ext cx="54864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FUSION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965960"/>
            <a:ext cx="6035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multi-sensor fusion → per-patch contamination posterior (mean + variance)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724912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8036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2880360"/>
            <a:ext cx="54864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MAPPING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926080"/>
            <a:ext cx="6035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regression → full probabilistic hygiene map (observed + unobserved)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3685032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404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40480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840480"/>
            <a:ext cx="548640" cy="80467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DECISION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886200"/>
            <a:ext cx="6035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· Adaptive UV exposure · HRC collaboration rules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INPUT VALUES?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84048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475488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mean μ₀ = 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prior knowledge of surface cleanliness — balanced uninformed belief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variance σ²₀ = 0.09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uncertainty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 0.3 covers most of the [0,1] contamination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 noise σ²_ATP = 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Low-moderate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 bioluminescence — real value from Niephaus 2024 (T7 door handle)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Fluorescence noise σ²_F = 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Biologically specific — less affected by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length-scale l = 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patch = meaningful spatial correlation on hospital surfaces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signal variance σ²_f = 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range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entire contamination range [0, 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Sensitivity 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analysis 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results are robust to all these parameter choices.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SENSOR IS MOST ACCURATE?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033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Fluorescence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= 0.01   |   Precision: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10515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specific. Detects organic residue directly. Unaffected by surface color or lighting.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35000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🥈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715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= 0.02   |   Precision: 50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23500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bioluminescence detects organic residue. Real value 907 RLU (Niephaus 2024) for T7 door handle.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57016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648456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🥉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36301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Belief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014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= 0.09   |   Precision: 11.1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364845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influence. Only matters when no sensor data available.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weights each sensor by inverse variance — more accurate sensors automatically contribute more to the fused estimate.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GAUSSIAN PROCESS, NOT KALMAN FILTER?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/ EKF Filter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(Our Method)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39319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81328"/>
            <a:ext cx="40233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1790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Designed for time-series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1790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Designed for spatial field estimation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029968"/>
            <a:ext cx="4023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6654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concept of spatial correlation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06654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Explicitly models spatial correlation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39319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578608"/>
            <a:ext cx="40233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1518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estimate unobserved patches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61518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Estimates all patches — observed or not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27248"/>
            <a:ext cx="4023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6382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3/9 tile coverage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16382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9/9 complete surface coverage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75888"/>
            <a:ext cx="39319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675888"/>
            <a:ext cx="40233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1246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Only covers 3 observed tiles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71246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Reaches all 9 tiles (MSE 0.00512)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4224528"/>
            <a:ext cx="4023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6110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calibrated uncertainty map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26110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uncertainty map → drives HRC rules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Kalman is ideal for tracking over time. Surface hygiene is a spatial problem — GP was purpose-built for this.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3×3 GRID — MATLAB SIMULATION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901952"/>
            <a:ext cx="13258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9019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901952"/>
            <a:ext cx="1325880" cy="137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9509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(0,0)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" y="12070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0.689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" y="14264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Fluorescence: 0.75 (real)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616" y="19202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Human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37360" y="9144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37360" y="1901952"/>
            <a:ext cx="132588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19019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1901952"/>
            <a:ext cx="132588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3936" y="9509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(1,0)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73936" y="12070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0.267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73936" y="14264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Fluorescence: 0.13 (real)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73936" y="19202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54680" y="9144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901952"/>
            <a:ext cx="13258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19019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1901952"/>
            <a:ext cx="132588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91256" y="9509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(2,0)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91256" y="12070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0.576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91256" y="14264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 estimate)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91256" y="19202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2860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273552"/>
            <a:ext cx="13258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2735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73552"/>
            <a:ext cx="1325880" cy="137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" y="23225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(0,1)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616" y="25786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0.576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" y="27980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(GP est.)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6616" y="32918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737360" y="22860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37360" y="3273552"/>
            <a:ext cx="1325880" cy="27432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37360" y="32735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0" y="3273552"/>
            <a:ext cx="1325880" cy="13716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73936" y="23225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(1,1)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73936" y="25786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0.576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73936" y="27980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(GP est.)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73936" y="32918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154680" y="22860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54680" y="3273552"/>
            <a:ext cx="13258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54680" y="32735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3273552"/>
            <a:ext cx="132588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91256" y="23225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(2,1)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191256" y="25786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0.576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191256" y="27980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 estimate)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191256" y="32918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6576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4645152"/>
            <a:ext cx="13258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6451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4645152"/>
            <a:ext cx="1325880" cy="137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36941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(0,2)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56616" y="39502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0.772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56616" y="41696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ATP: 0.91 (real)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 estimate)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46634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737360" y="36576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737360" y="4645152"/>
            <a:ext cx="13258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37360" y="46451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37360" y="4645152"/>
            <a:ext cx="1325880" cy="137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73936" y="36941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(1,2)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773936" y="39502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0.576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773936" y="41696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(GP est.)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773936" y="46634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154680" y="3657600"/>
            <a:ext cx="1325880" cy="1261872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154680" y="4645152"/>
            <a:ext cx="13258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54680" y="464515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54680" y="4645152"/>
            <a:ext cx="132588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91256" y="369417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(2,2)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191256" y="3950208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0.576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191256" y="4169664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 estimate)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191256" y="46634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663440" y="4800600"/>
            <a:ext cx="164592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64608" y="47731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Disinfect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760720" y="480060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61888" y="47731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858000" y="4800600"/>
            <a:ext cx="164592" cy="16459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59168" y="47731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955280" y="480060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56448" y="47731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(GP)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FUSION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σ²_fused = 1 / (1/0.09 + 1/σ²_sensor)  per tile  →  87.3% average variance reduction vs prior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10512"/>
          <a:ext cx="8595360" cy="2852928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1097280"/>
                <a:gridCol w="914400"/>
                <a:gridCol w="1371600"/>
                <a:gridCol w="1371600"/>
                <a:gridCol w="219456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z_obs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μ_fused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σ²_fused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Disinfect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fused variance is lower than the sensor alone — fusion always reduces uncertainty. T1, T2, T7 use real RLU values; other tiles are GP-estimated.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PROCESS SPATIAL MAPPING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Kernel: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k(xᵢ, xⱼ) = σ²f · exp(−‖xᵢ−xⱼ‖² / 2l²)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 = 1.0,  σ²f = 1.0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14400"/>
          <a:ext cx="4206240" cy="2426208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920240"/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patch — identical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 — strongly correlated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√2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Diagonal — moderate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apart — weak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√5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Corner-to-edge — very weak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2212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 Estimates for Unobserved Patches: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26060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41148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3 (2,0)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116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Nearest: Patch 2 (k=0.607)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49040" y="26517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~0.52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172968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480" y="3218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6 (2,1)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11680" y="3218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Nearest: Patch 5 (k=0.607)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749040" y="3218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~0.30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739896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11480" y="37856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7 (0,2)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011680" y="37856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Nearest: Patches 4&amp;8 (k=0.607)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49040" y="378561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~0.80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306824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11480" y="43525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9 (2,2)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011680" y="43525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Nearest: Patch 8 (k=0.607)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49040" y="435254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~0.65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1428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prior alone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50592" y="105156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14285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097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450592" y="2057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ATP (100 vs 50)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105156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142850"/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097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D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26864" y="2057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surface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(vs 3/9)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03136" y="105156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14285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03136" y="1097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803136" y="2057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UV cleaning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at T7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274320" y="3127248"/>
          <a:ext cx="8595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FAILURE — FAULT-TOLERANCE ILLUSTRATION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Illustrative scenario: if a tile were read by two sensors and the noisier ATP returned a corrupted value z_ATP = 0.05 while Fluorescence correctly read z_F = 0.95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contribution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/ 0.02 = 2.50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contribution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286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/ 0.01 = 95.00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2834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/ 0.09 = 5.56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weighted sum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3383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 + 95.00 + 5.56 = 103.06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mean 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3931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0.00621 × 103.06 = 0.640  →  DISINFECT 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49884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9050">
            <a:solidFill>
              <a:srgbClr val="2D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62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Fluorescence precision (100) is far higher than the corrupted ATP contribution (2.50). The bad sensor is automatically suppressed — no explicit fault detection needed. This illustrates the emergent fault tolerance of inverse-variance weighting.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326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delivers 87.3% uncertainty reduction — always outperforms any single sensor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7335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mapping achieves complete 9/9 coverage vs 3/9 for Kalman — no other baseline can do this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8658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9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Precision-weighting provides automatic fault tolerance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09981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7238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rules produce well-differentiated outputs: Disinfect / Monitor / Clean / Confirm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81304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856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is mathematically rigorous and ready for simulation &amp; hardware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52628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1436</Words>
  <Application>Microsoft Office PowerPoint</Application>
  <PresentationFormat>On-screen Show (16:9)</PresentationFormat>
  <Paragraphs>273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Sensor Fusion and GP Mapping</dc:title>
  <dc:subject>PptxGenJS Presentation</dc:subject>
  <dc:creator>Alwa Jyoshna</dc:creator>
  <cp:lastModifiedBy>home</cp:lastModifiedBy>
  <cp:revision>4</cp:revision>
  <dcterms:created xsi:type="dcterms:W3CDTF">2026-06-12T07:49:15Z</dcterms:created>
  <dcterms:modified xsi:type="dcterms:W3CDTF">2026-07-01T07:35:51Z</dcterms:modified>
</cp:coreProperties>
</file>