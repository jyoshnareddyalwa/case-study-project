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67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MSE (lower=better)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Pt>
            <c:idx val="0"/>
            <c:invertIfNegative val="0"/>
            <c:bubble3D val="0"/>
          </c:dPt>
          <c:dPt>
            <c:idx val="1"/>
            <c:invertIfNegative val="0"/>
            <c:bubble3D val="0"/>
          </c:dPt>
          <c:dPt>
            <c:idx val="2"/>
            <c:invertIfNegative val="0"/>
            <c:bubble3D val="0"/>
          </c:dPt>
          <c:dPt>
            <c:idx val="3"/>
            <c:invertIfNegative val="0"/>
            <c:bubble3D val="0"/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RGB-D Only</c:v>
                </c:pt>
                <c:pt idx="1">
                  <c:v>Fluorescence Only</c:v>
                </c:pt>
                <c:pt idx="2">
                  <c:v>Kalman/EKF</c:v>
                </c:pt>
                <c:pt idx="3">
                  <c:v>Bayes Fusion</c:v>
                </c:pt>
                <c:pt idx="4">
                  <c:v>Proposed (Bayes+GP)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</c:v>
                </c:pt>
                <c:pt idx="1">
                  <c:v>0.01</c:v>
                </c:pt>
                <c:pt idx="2">
                  <c:v>8.0000000000000002E-3</c:v>
                </c:pt>
                <c:pt idx="3">
                  <c:v>7.3499999999999998E-3</c:v>
                </c:pt>
                <c:pt idx="4">
                  <c:v>7.3499999999999998E-3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78537520"/>
        <c:axId val="1078539696"/>
      </c:barChart>
      <c:catAx>
        <c:axId val="107853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8D8E8"/>
                </a:solidFill>
                <a:latin typeface="Arial"/>
              </a:defRPr>
            </a:pPr>
            <a:endParaRPr lang="en-US"/>
          </a:p>
        </c:txPr>
        <c:crossAx val="1078539696"/>
        <c:crosses val="autoZero"/>
        <c:auto val="1"/>
        <c:lblAlgn val="ctr"/>
        <c:lblOffset val="100"/>
        <c:noMultiLvlLbl val="1"/>
      </c:catAx>
      <c:valAx>
        <c:axId val="1078539696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A8D8E8"/>
                </a:solidFill>
                <a:latin typeface="Arial"/>
              </a:defRPr>
            </a:pPr>
            <a:endParaRPr lang="en-US"/>
          </a:p>
        </c:txPr>
        <c:crossAx val="107853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4285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556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presentation covers the full Bayesian Sensor Fusion and GP Mapping framework, including the 3x3 MATLAB grid simulation, sensor accuracy comparison, and GP vs Kalman justification.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 core problems motivating our work. Existing systems lack: (1) automatic contamination detection, (2) real biological verification, (3) sensor-driven HRC.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is modular. Raw sensor data flows through four sequential layers. Each layer can be updated independently — key for future hardware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point for your professor: values are not arbitrary. Each is grounded in physical reasoning about the sensor and the contamination domain. Sensitivity analysis proves they don't need to be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precision = 1/variance. Fluorescence at precision 100 vs RGB-D at 25 means fluorescence gets 4x more weight automatically. No manual tuning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comparison for your professor. Kalman cannot propagate to unobserved locations. GP can. That 80% coverage improvement is the decisive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3x3 grid. 5 patches observed by both sensors. 4 unobserved — GP estimates their contamination from spatial correlation. Patch 4 (0.904) and 7 (~0.80) are highest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all 5 observed patches share the same fused variance 0.00735 because they all used the same sensor pair. The mean varies based on the actual readings.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GP uses the kernel to borrow information from neighboring observed patches. Patch 7 is strongly correlated with the two most contaminated observed patches, so it inherits a high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your three headline numbers. 91.8%, 81.6%, and 80% coverage improvement. Memorize them for your professor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your strongest proof of robustness. The framework didn't need a fault detection algorithm — the math handles it automatically through precision weighting.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reiterating the three headline numbers and the roadmap. The framework is analytically validated — simulation and hardware are the clear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57200"/>
            <a:ext cx="2560320" cy="347472"/>
          </a:xfrm>
          <a:prstGeom prst="roundRect">
            <a:avLst>
              <a:gd name="adj" fmla="val 13158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72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 smtClean="0">
                <a:solidFill>
                  <a:srgbClr val="FFFFFF"/>
                </a:solidFill>
              </a:rPr>
              <a:t>Session 4: Simulation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Sensor Fusion &amp;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Mapping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Human–Robot Collaborative Hygiene Monitoring and Surface Disinfection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3200400" cy="36576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74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smtClean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</a:p>
          <a:p>
            <a:pPr marL="0" indent="0">
              <a:buNone/>
            </a:pPr>
            <a:r>
              <a:rPr lang="en-US" sz="1300" dirty="0" smtClean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Group 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306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2743200" cy="502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10058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298448"/>
            <a:ext cx="2743200" cy="2286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24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Contamination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24688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robots navigate and spray UV without detecting if surfaces are actually </a:t>
            </a:r>
            <a:r>
              <a:rPr lang="en-US" sz="12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contaminated                             </a:t>
            </a: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246120" y="1005840"/>
            <a:ext cx="2743200" cy="306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005840"/>
            <a:ext cx="2743200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0058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1298448"/>
            <a:ext cx="2743200" cy="22860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024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Cleanliness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1600200"/>
            <a:ext cx="24688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confirm UV path execution — not biological cleanliness or pathogen removal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1005840"/>
            <a:ext cx="2743200" cy="3066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005840"/>
            <a:ext cx="27432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10058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298448"/>
            <a:ext cx="2743200" cy="228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024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Perception-Limited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55080" y="1600200"/>
            <a:ext cx="24688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operators carry full cognitive burden for surface identification in clinical </a:t>
            </a:r>
            <a:r>
              <a:rPr lang="en-US" sz="12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environments.</a:t>
            </a: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dirty="0" smtClean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Sensor Fusion and </a:t>
            </a:r>
            <a:r>
              <a:rPr lang="pt-BR" sz="1200" dirty="0"/>
              <a:t>No continuous spatial hygiene map</a:t>
            </a: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 smtClean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Framework Addresses All 5</a:t>
            </a:r>
            <a:r>
              <a:rPr lang="en-US" sz="1200" b="1" i="1" dirty="0" smtClean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Gaps in the </a:t>
            </a:r>
            <a:r>
              <a:rPr lang="en-US" sz="1200" b="1" i="1" dirty="0" smtClean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103120" cy="804672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960120"/>
            <a:ext cx="548640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6012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SENSING LAYER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1005840"/>
            <a:ext cx="6035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 · Fluorescence · Hyperspectral · UV-Dose · Human Proximity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1764792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2024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920240"/>
            <a:ext cx="2103120" cy="804672"/>
          </a:xfrm>
          <a:prstGeom prst="roundRect">
            <a:avLst>
              <a:gd name="adj" fmla="val 9091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20240" y="1920240"/>
            <a:ext cx="548640" cy="80467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92024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FUSION LAYER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06040" y="1965960"/>
            <a:ext cx="6035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multi-sensor fusion → per-patch contamination posterior (mean + variance)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0" y="2724912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88036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880360"/>
            <a:ext cx="2103120" cy="804672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20240" y="2880360"/>
            <a:ext cx="548640" cy="80467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288036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MAPPING LAYER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06040" y="2926080"/>
            <a:ext cx="6035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 regression → full probabilistic hygiene map (observed + unobserved)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685032"/>
            <a:ext cx="0" cy="155448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40480"/>
            <a:ext cx="8412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840480"/>
            <a:ext cx="2103120" cy="804672"/>
          </a:xfrm>
          <a:prstGeom prst="roundRect">
            <a:avLst>
              <a:gd name="adj" fmla="val 9091"/>
            </a:avLst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20240" y="3840480"/>
            <a:ext cx="548640" cy="804672"/>
          </a:xfrm>
          <a:prstGeom prst="rect">
            <a:avLst/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84048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DECISION LAYER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06040" y="3886200"/>
            <a:ext cx="6035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scoring · Adaptive UV exposure · HRC collaboration rules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THESE INPUT VALUES?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384048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4754880"/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mean μ₀ = 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start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prior knowledge of surface cleanliness — balanced uninformed belief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variance σ²₀ = 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uncertainty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 0.3 covers most of the [0,1] contamination 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RGB-D noise σ²_RGB = 0.04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noise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sensor affected by lighting, reflections, surface color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Fluorescence noise σ²_F = 0.01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noise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Biologically specific — less affected by environment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 length-scale l = 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 correlation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patch = meaningful spatial correlation on hospital surfaces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 signal variance σ²_f = 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range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Covers entire contamination range [0, 1]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274320" y="480060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</a:t>
            </a:r>
            <a:r>
              <a:rPr lang="en-US" sz="1000" i="1" dirty="0" smtClean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</a:t>
            </a: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results are robust to all these parameter choices.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SENSOR IS MOST ACCURATE?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0515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🥇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97280" y="10332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Fluorescence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14173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D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 = 0.01   |   Precision: 100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80560" y="1051560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Biologically specific. Detects organic residue directly. Unaffected by surface color or lighting.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258568"/>
            <a:ext cx="8595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11480" y="2350008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🥈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97280" y="23317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RGB-D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2715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 = 0.04   |   Precision: 25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80560" y="2350008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geometry &amp; visual texture. Affected by illumination variation and surface reflectance.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557016"/>
            <a:ext cx="8595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11480" y="3648456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🥉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097280" y="36301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Belief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97280" y="4014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 = 0.09   |   Precision: 11.1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3648456"/>
            <a:ext cx="4297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Weakest influence. Only matters when no sensor data available.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48463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fusion weights each sensor by inverse variance — more accurate sensors automatically contribute more to the fused estimate.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GAUSSIAN PROCESS, NOT KALMAN FILTER?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914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Kalman / EKF Filter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914400"/>
            <a:ext cx="402336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914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 (Our Method)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481328"/>
            <a:ext cx="393192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481328"/>
            <a:ext cx="40233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51790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Designed for time-series tracking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1790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Designed for spatial field estimation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029968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2029968"/>
            <a:ext cx="40233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206654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concept of spatial correlation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92040" y="206654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Explicitly models spatial correlation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578608"/>
            <a:ext cx="393192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46320" y="2578608"/>
            <a:ext cx="40233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61518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Cannot estimate unobserved patches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261518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Estimates all patches — observed or not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127248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127248"/>
            <a:ext cx="40233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316382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5/9 patch coverage only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316382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9/9 complete surface coverage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75888"/>
            <a:ext cx="393192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3675888"/>
            <a:ext cx="40233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371246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MSE ≈ 0.008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71246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MSE = 0.00735 (8.1% lower)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4224528"/>
            <a:ext cx="39319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4224528"/>
            <a:ext cx="40233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4261104"/>
            <a:ext cx="3840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calibrated uncertainty map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4261104"/>
            <a:ext cx="3931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Full uncertainty map → drives HRC rules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Kalman is ideal for tracking over time. Surface hygiene is a spatial problem — GP was purpose-built for this.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3×3 GRID — MATLAB SIMULATION SETUP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901952"/>
            <a:ext cx="1325880" cy="274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9019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901952"/>
            <a:ext cx="1325880" cy="137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" y="9509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(0,0)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6616" y="12070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0.794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6616" y="14264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RGB: 0.70  FL: 0.85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6616" y="19202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37360" y="9144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737360" y="1901952"/>
            <a:ext cx="1325880" cy="2743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37360" y="19019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37360" y="1901952"/>
            <a:ext cx="1325880" cy="13716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73936" y="9509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(1,0)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773936" y="12070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0.519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73936" y="14264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RGB: 0.40  FL: 0.55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773936" y="19202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154680" y="9144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901952"/>
            <a:ext cx="13258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54680" y="19019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54680" y="1901952"/>
            <a:ext cx="1325880" cy="137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91256" y="9509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(2,0)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191256" y="12070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~0.52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191256" y="14264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 estimate)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191256" y="19202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0040" y="22860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273552"/>
            <a:ext cx="1325880" cy="274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" y="32735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73552"/>
            <a:ext cx="1325880" cy="137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616" y="23225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(0,1)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6616" y="25786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0.904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6616" y="27980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RGB: 0.90  FL: 0.95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56616" y="32918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737360" y="22860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737360" y="3273552"/>
            <a:ext cx="1325880" cy="274320"/>
          </a:xfrm>
          <a:prstGeom prst="rect">
            <a:avLst/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737360" y="32735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737360" y="3273552"/>
            <a:ext cx="1325880" cy="137160"/>
          </a:xfrm>
          <a:prstGeom prst="rect">
            <a:avLst/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773936" y="23225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(1,1)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773936" y="25786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0.243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773936" y="27980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RGB: 0.30  FL: 0.20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773936" y="32918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154680" y="22860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154680" y="3273552"/>
            <a:ext cx="13258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54680" y="32735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154680" y="3273552"/>
            <a:ext cx="1325880" cy="137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91256" y="23225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(2,1)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191256" y="25786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~0.30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191256" y="27980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 estimate)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191256" y="32918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0040" y="36576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320040" y="4645152"/>
            <a:ext cx="1325880" cy="274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0040" y="46451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20040" y="4645152"/>
            <a:ext cx="1325880" cy="137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56616" y="36941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(0,2)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56616" y="39502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~0.80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356616" y="41696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 estimate)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46634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737360" y="36576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1737360" y="4645152"/>
            <a:ext cx="1325880" cy="2743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737360" y="46451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37360" y="4645152"/>
            <a:ext cx="1325880" cy="13716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773936" y="36941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P8 (1,2)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1773936" y="39502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0.702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1773936" y="41696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RGB: 0.60  FL: 0.75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1773936" y="46634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154680" y="3657600"/>
            <a:ext cx="1325880" cy="1261872"/>
          </a:xfrm>
          <a:prstGeom prst="roundRect">
            <a:avLst>
              <a:gd name="adj" fmla="val 5797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54680" y="4645152"/>
            <a:ext cx="1325880" cy="274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154680" y="4645152"/>
            <a:ext cx="1325880" cy="27432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54680" y="4645152"/>
            <a:ext cx="1325880" cy="137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191256" y="369417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(2,2)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3191256" y="3950208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~0.65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3191256" y="4169664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UNOBSERVED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 estimate)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3191256" y="466344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663440" y="4800600"/>
            <a:ext cx="164592" cy="16459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864608" y="477316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Disinfect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5760720" y="4800600"/>
            <a:ext cx="164592" cy="16459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61888" y="477316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858000" y="4800600"/>
            <a:ext cx="164592" cy="164592"/>
          </a:xfrm>
          <a:prstGeom prst="rect">
            <a:avLst/>
          </a:prstGeom>
          <a:solidFill>
            <a:srgbClr val="2D9E6B"/>
          </a:solidFill>
          <a:ln w="12700">
            <a:solidFill>
              <a:srgbClr val="2D9E6B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059168" y="477316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7955280" y="4800600"/>
            <a:ext cx="164592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156448" y="477316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(GP)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BAYESIAN FUSION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777240"/>
          </a:xfrm>
          <a:prstGeom prst="roundRect">
            <a:avLst>
              <a:gd name="adj" fmla="val 11765"/>
            </a:avLst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32688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σ²_fused = 1 / (1/0.09 + 1/0.04 + 1/0.01) = 1 / 136.11 = 0.00735     →     91.8% variance reduction vs prior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10512"/>
          <a:ext cx="8595360" cy="2852928"/>
        </p:xfrm>
        <a:graphic>
          <a:graphicData uri="http://schemas.openxmlformats.org/drawingml/2006/table">
            <a:tbl>
              <a:tblPr/>
              <a:tblGrid>
                <a:gridCol w="731520"/>
                <a:gridCol w="914400"/>
                <a:gridCol w="1097280"/>
                <a:gridCol w="914400"/>
                <a:gridCol w="1371600"/>
                <a:gridCol w="1371600"/>
                <a:gridCol w="2194560"/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z_RGB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z_F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μ_fused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σ²_fused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34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Disinfect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(0,1)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Disinfect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D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D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(1,2)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39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Disinfect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47731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variance 0.00735 is lower than the best single sensor (fluorescence σ² = 0.01) — fusion always reduces uncertainty.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GAUSSIAN PROCESS SPATIAL MAPPING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1188720"/>
          </a:xfrm>
          <a:prstGeom prst="roundRect">
            <a:avLst>
              <a:gd name="adj" fmla="val 7692"/>
            </a:avLst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RBF Kernel: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k(xᵢ, xⱼ) = σ²f · exp(−‖xᵢ−xⱼ‖² / 2l²)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l = 1.0,  σ²f = 1.0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914400"/>
          <a:ext cx="4206240" cy="2426208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1920240"/>
              </a:tblGrid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patch — identical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Adjacent — strongly correlated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√2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Diagonal — moderate correlation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apart — weak correlation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= √5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Corner-to-edge — very weak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74320" y="22128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 Estimates for Unobserved Patches: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74320" y="26060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7"/>
          <p:cNvSpPr/>
          <p:nvPr/>
        </p:nvSpPr>
        <p:spPr>
          <a:xfrm>
            <a:off x="411480" y="2651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3 (2,0)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01168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Nearest: Patch 2 (k=0.607)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749040" y="265176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~0.52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4320" y="3172968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11480" y="321868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6 (2,1)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2011680" y="32186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Nearest: Patch 5 (k=0.607)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749040" y="321868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~0.30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3739896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11480" y="378561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7 (0,2)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011680" y="37856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Nearest: Patches 4&amp;8 (k=0.607)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749040" y="3785616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~0.80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4320" y="4306824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11480" y="43525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9 (2,2)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011680" y="435254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Nearest: Patch 8 (k=0.607)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749040" y="4352544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 = ~0.65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51560"/>
            <a:ext cx="2011680" cy="1920240"/>
          </a:xfrm>
          <a:prstGeom prst="roundRect">
            <a:avLst>
              <a:gd name="adj" fmla="val 5714"/>
            </a:avLst>
          </a:prstGeom>
          <a:solidFill>
            <a:srgbClr val="142850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97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91.8%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74320" y="20574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reduction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alone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50592" y="1051560"/>
            <a:ext cx="2011680" cy="1920240"/>
          </a:xfrm>
          <a:prstGeom prst="roundRect">
            <a:avLst>
              <a:gd name="adj" fmla="val 5714"/>
            </a:avLst>
          </a:prstGeom>
          <a:solidFill>
            <a:srgbClr val="142850"/>
          </a:solidFill>
          <a:ln w="1905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50592" y="1097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81.6%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450592" y="20574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error vs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 only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26864" y="1051560"/>
            <a:ext cx="2011680" cy="1920240"/>
          </a:xfrm>
          <a:prstGeom prst="roundRect">
            <a:avLst>
              <a:gd name="adj" fmla="val 5714"/>
            </a:avLst>
          </a:prstGeom>
          <a:solidFill>
            <a:srgbClr val="142850"/>
          </a:solidFill>
          <a:ln w="19050">
            <a:solidFill>
              <a:srgbClr val="F4D0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26864" y="1097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4D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9/9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26864" y="20574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surface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(vs 5/9)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03136" y="1051560"/>
            <a:ext cx="2011680" cy="1920240"/>
          </a:xfrm>
          <a:prstGeom prst="roundRect">
            <a:avLst>
              <a:gd name="adj" fmla="val 5714"/>
            </a:avLst>
          </a:prstGeom>
          <a:solidFill>
            <a:srgbClr val="142850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03136" y="1097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4A2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803136" y="20574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improvement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non-GP methods</a:t>
            </a:r>
            <a:endParaRPr lang="en-US" sz="11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274320" y="3127248"/>
          <a:ext cx="859536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 D — SENSOR FAILURE (ROBUSTNESS PROOF)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EF3C7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32688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Scenario: Patch 4 RGB-D sensor returns corrupted reading z_RGB = 0.05, while fluorescence correctly reads z_F = 0.95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691640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373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 contribution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 / 0.04 = 1.25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4320" y="2240280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Fluorescence contribution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06240" y="2286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 / 0.01 = 95.00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834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contribution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06240" y="2834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/ 0.09 = 5.56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3337560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832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weighted sum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0" y="3383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 + 95.00 + 5.56 = 101.81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886200"/>
            <a:ext cx="859536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D1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9319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Fused mean 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06240" y="39319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0.00735 × 101.81 = 0.748  →  DISINFECT 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4498848"/>
            <a:ext cx="8595360" cy="548640"/>
          </a:xfrm>
          <a:prstGeom prst="roundRect">
            <a:avLst>
              <a:gd name="adj" fmla="val 13333"/>
            </a:avLst>
          </a:prstGeom>
          <a:solidFill>
            <a:srgbClr val="DCFCE7"/>
          </a:solidFill>
          <a:ln w="19050">
            <a:solidFill>
              <a:srgbClr val="2D9E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526280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Fluorescence precision (100) is 80× higher than corrupted RGB-D (1.25). Bad sensor automatically suppressed — no explicit fault detection needed. This is emergent fault tolerance.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114800" cy="4114800"/>
          </a:xfrm>
          <a:prstGeom prst="ellipse">
            <a:avLst/>
          </a:prstGeom>
          <a:solidFill>
            <a:srgbClr val="028090">
              <a:alpha val="15000"/>
            </a:srgbClr>
          </a:solidFill>
          <a:ln w="12700">
            <a:solidFill>
              <a:srgbClr val="028090">
                <a:alpha val="1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93268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fusion delivers 91.8% uncertainty reduction — always outperforms any single 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673352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mapping achieves complete 9/9 coverage — no other baseline can do this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386584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Precision-weighting provides automatic fault tolerance 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3099816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07238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HRC rules produce well-differentiated outputs: Disinfect / Monitor / Clean / Confirm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813048"/>
            <a:ext cx="274320" cy="27432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78561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1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is mathematically rigorous and ready for simulation &amp; hardware validation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4526280"/>
            <a:ext cx="50292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466344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1436</Words>
  <Application>Microsoft Office PowerPoint</Application>
  <PresentationFormat>On-screen Show (16:9)</PresentationFormat>
  <Paragraphs>273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Bayesian Sensor Fusion and GP Mapping</dc:title>
  <dc:subject>PptxGenJS Presentation</dc:subject>
  <dc:creator>Alwa Jyoshna</dc:creator>
  <cp:lastModifiedBy>home</cp:lastModifiedBy>
  <cp:revision>4</cp:revision>
  <dcterms:created xsi:type="dcterms:W3CDTF">2026-06-12T07:49:15Z</dcterms:created>
  <dcterms:modified xsi:type="dcterms:W3CDTF">2026-07-01T07:35:51Z</dcterms:modified>
</cp:coreProperties>
</file>