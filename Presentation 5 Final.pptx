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8" d="100"/>
          <a:sy n="88" d="100"/>
        </p:scale>
        <p:origin x="466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291865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D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754880" cy="4754880"/>
          </a:xfrm>
          <a:prstGeom prst="ellipse">
            <a:avLst/>
          </a:prstGeom>
          <a:solidFill>
            <a:srgbClr val="0F4E6E"/>
          </a:solidFill>
          <a:ln/>
        </p:spPr>
      </p:sp>
      <p:sp>
        <p:nvSpPr>
          <p:cNvPr id="3" name="Shape 1"/>
          <p:cNvSpPr/>
          <p:nvPr/>
        </p:nvSpPr>
        <p:spPr>
          <a:xfrm>
            <a:off x="10698480" y="-548640"/>
            <a:ext cx="2834640" cy="2834640"/>
          </a:xfrm>
          <a:prstGeom prst="ellipse">
            <a:avLst/>
          </a:prstGeom>
          <a:solidFill>
            <a:srgbClr val="155E80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75720" y="502920"/>
            <a:ext cx="685800" cy="685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12344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97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PRESENTATION  ·  SESSION 5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731520" y="1645920"/>
            <a:ext cx="9875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Bayesian Sensor Fusion &amp; Gaussian Process Mapping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731520" y="269748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Human–Robot Collaborative Hygiene Monitoring and Surface Disinfection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731520" y="3611880"/>
            <a:ext cx="2377440" cy="27432"/>
          </a:xfrm>
          <a:prstGeom prst="rect">
            <a:avLst/>
          </a:prstGeom>
          <a:solidFill>
            <a:srgbClr val="2E6E86"/>
          </a:solidFill>
          <a:ln/>
        </p:spPr>
      </p:sp>
      <p:sp>
        <p:nvSpPr>
          <p:cNvPr id="9" name="Text 6"/>
          <p:cNvSpPr/>
          <p:nvPr/>
        </p:nvSpPr>
        <p:spPr>
          <a:xfrm>
            <a:off x="731520" y="3794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</a:t>
            </a:r>
            <a:r>
              <a:rPr lang="en-US" sz="1400" dirty="0" smtClean="0">
                <a:solidFill>
                  <a:schemeClr val="accent6">
                    <a:lumMod val="40000"/>
                    <a:lumOff val="6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Assistive </a:t>
            </a:r>
            <a:r>
              <a:rPr lang="en-US" sz="1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Robotics for </a:t>
            </a:r>
            <a:r>
              <a:rPr lang="en-US" sz="1400" dirty="0" smtClean="0">
                <a:solidFill>
                  <a:schemeClr val="accent6">
                    <a:lumMod val="40000"/>
                    <a:lumOff val="6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Improvement of Life Quality</a:t>
            </a:r>
            <a:endParaRPr lang="en-US" sz="1400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0" name="Shape 7"/>
          <p:cNvSpPr/>
          <p:nvPr/>
        </p:nvSpPr>
        <p:spPr>
          <a:xfrm>
            <a:off x="731520" y="4343400"/>
            <a:ext cx="6949440" cy="1600200"/>
          </a:xfrm>
          <a:prstGeom prst="roundRect">
            <a:avLst>
              <a:gd name="adj" fmla="val 4571"/>
            </a:avLst>
          </a:prstGeom>
          <a:solidFill>
            <a:srgbClr val="0E4A66"/>
          </a:solidFill>
          <a:ln/>
          <a:effectLst>
            <a:outerShdw blurRad="101600" dist="38100" dir="5400000" algn="bl" rotWithShape="0">
              <a:srgbClr val="1B2A38">
                <a:alpha val="12000"/>
              </a:srgbClr>
            </a:outerShdw>
          </a:effectLst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4590288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45920" y="45262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97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 ·  Group 1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1005840" y="50749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 Jyoshna     Vallepu Vishnu     Kappala Mahesh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1005840" y="5468112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AFC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M.Eng. Robotics · Technische Hochschule Deggendorf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AFC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Supervisor: Prof. Dr.-Ing. Hamidreza Heidari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Bayesian Fusion + GP Hygiene Monitoring  |  Group 1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D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&amp; HISTORY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Disinfection Robots Need to Sense, Not Just Move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Infection control is a persistent healthcare challenge. Robots that deliver UV or spray disinfection are well established — but almost all of them verify that a path was followed, not that contamination was actually present, reduced, or removed.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356616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blurRad="101600" dist="38100" dir="5400000" algn="bl" rotWithShape="0">
              <a:srgbClr val="1B2A38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423160"/>
            <a:ext cx="566928" cy="566928"/>
          </a:xfrm>
          <a:prstGeom prst="ellipse">
            <a:avLst/>
          </a:prstGeom>
          <a:solidFill>
            <a:srgbClr val="E8F1F3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" y="2569464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1089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3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Contamination Sensing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822960" y="352044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Robots traverse a fixed path and irradiate on schedule — without sensing whether contamination is actually present</a:t>
            </a:r>
            <a:r>
              <a:rPr lang="en-US" sz="11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434840" y="2148840"/>
            <a:ext cx="356616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blurRad="101600" dist="38100" dir="5400000" algn="bl" rotWithShape="0">
              <a:srgbClr val="1B2A38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09160" y="2423160"/>
            <a:ext cx="566928" cy="566928"/>
          </a:xfrm>
          <a:prstGeom prst="ellipse">
            <a:avLst/>
          </a:prstGeom>
          <a:solidFill>
            <a:srgbClr val="E8F1F3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5464" y="2569464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09160" y="31089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3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Verification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4709160" y="352044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confirm a UV lamp followed its planned path, not that pathogens were actually removed from the surface.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8321040" y="2148840"/>
            <a:ext cx="356616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blurRad="101600" dist="38100" dir="5400000" algn="bl" rotWithShape="0">
              <a:srgbClr val="1B2A38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595360" y="2423160"/>
            <a:ext cx="566928" cy="566928"/>
          </a:xfrm>
          <a:prstGeom prst="ellipse">
            <a:avLst/>
          </a:prstGeom>
          <a:solidFill>
            <a:srgbClr val="E8F1F3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41664" y="2569464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595360" y="31089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3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Carries the Burden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8595360" y="352044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no probabilistic hygiene model, the human retains full cognitive responsibility for spotting contaminated areas.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548640" y="470916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0E4A66"/>
          </a:solidFill>
          <a:ln/>
        </p:spPr>
      </p:sp>
      <p:sp>
        <p:nvSpPr>
          <p:cNvPr id="21" name="Text 16"/>
          <p:cNvSpPr/>
          <p:nvPr/>
        </p:nvSpPr>
        <p:spPr>
          <a:xfrm>
            <a:off x="868680" y="470916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97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line:  </a:t>
            </a: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contamination is spatially uneven, sensing is absent, and verification stops at geometry — not biology.</a:t>
            </a:r>
            <a:endParaRPr lang="en-US" sz="1350" dirty="0"/>
          </a:p>
        </p:txBody>
      </p:sp>
      <p:sp>
        <p:nvSpPr>
          <p:cNvPr id="22" name="Text 17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Bayesian Fusion + GP Hygiene Monitoring  |  Group 1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D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 &amp; BIBLIOGRAPHY REPORT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Reviewed Works, Five Capability Gaps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5331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scope: shared autonomy disinfection, verifiable UV disinfection, vision-based mobile manipulation, device reprocessing, and HRC adoption in healthcare (2021–2023), plus the foundational 2006 Gaussian Process reference.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0751337"/>
              </p:ext>
            </p:extLst>
          </p:nvPr>
        </p:nvGraphicFramePr>
        <p:xfrm>
          <a:off x="548640" y="1920240"/>
          <a:ext cx="6858000" cy="2743200"/>
        </p:xfrm>
        <a:graphic>
          <a:graphicData uri="http://schemas.openxmlformats.org/drawingml/2006/table">
            <a:tbl>
              <a:tblPr/>
              <a:tblGrid>
                <a:gridCol w="2651760"/>
                <a:gridCol w="841248"/>
                <a:gridCol w="841248"/>
                <a:gridCol w="841248"/>
                <a:gridCol w="841248"/>
                <a:gridCol w="841248"/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Reviewed Work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Contam.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Sensing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Cleanliness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Verification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Sensor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Fusion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Spatial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Mapping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Uncertainty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Quantified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[1] Sanchez &amp; Smart (2021)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C127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C127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C127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C127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C127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[2] Sanchez &amp; Smart (2022)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C127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D98E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◐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C127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C127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C127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[3] Baumgarten et al. (2022)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D98E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◐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C127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C127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C127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C127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[4] RODI / JARVIS (2021)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C127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C127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C127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C127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C127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Proposed Framework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3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489204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A9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Weerarathna et al. (2023) is a narrative review — framed for human-factors context, not scored technically.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7635240" y="1920240"/>
            <a:ext cx="3977640" cy="4343400"/>
          </a:xfrm>
          <a:prstGeom prst="roundRect">
            <a:avLst>
              <a:gd name="adj" fmla="val 1839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blurRad="101600" dist="38100" dir="5400000" algn="bl" rotWithShape="0">
              <a:srgbClr val="1B2A38">
                <a:alpha val="12000"/>
              </a:srgbClr>
            </a:outerShdw>
          </a:effectLst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9560" y="2148840"/>
            <a:ext cx="365760" cy="3657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366760" y="21488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Gaps Closed by the Proposed Method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7909560" y="2697480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12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contamination estimation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7909560" y="2971800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D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Bayesian multi-sensor fusion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7909560" y="3392424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12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Weak, path-level verification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7909560" y="3666744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D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Per-patch posterior + uncertainty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7909560" y="4087368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12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fusion used in isolation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7909560" y="4361688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D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Closed-form inverse-variance fusion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7909560" y="4782312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12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spatial coverage of unobserved areas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7909560" y="5056632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D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GP regression w/ RBF kernel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7909560" y="5477256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12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HRC is perception-limited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7909560" y="5751576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D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Uncertainty-aware HRC decision rules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 smtClean="0">
                <a:solidFill>
                  <a:srgbClr val="8A9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Bayesian Fusion + GP Hygiene |  Group 1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D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 — Four Sequential Layers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514600" cy="3246120"/>
          </a:xfrm>
          <a:prstGeom prst="roundRect">
            <a:avLst>
              <a:gd name="adj" fmla="val 3273"/>
            </a:avLst>
          </a:prstGeom>
          <a:solidFill>
            <a:srgbClr val="0B3D59"/>
          </a:solidFill>
          <a:ln/>
          <a:effectLst>
            <a:outerShdw blurRad="101600" dist="38100" dir="5400000" algn="bl" rotWithShape="0">
              <a:srgbClr val="1B2A38">
                <a:alpha val="12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9908" y="2011680"/>
            <a:ext cx="512064" cy="51206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269748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Sensing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49808" y="3154680"/>
            <a:ext cx="211226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00" dirty="0">
                <a:solidFill>
                  <a:srgbClr val="E4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Fluorescence (T1, T2) and ATP (T7) sensors — real measured RLU values from published research.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063240" y="2994660"/>
            <a:ext cx="320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8A9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800" dirty="0"/>
          </a:p>
        </p:txBody>
      </p:sp>
      <p:sp>
        <p:nvSpPr>
          <p:cNvPr id="9" name="Shape 6"/>
          <p:cNvSpPr/>
          <p:nvPr/>
        </p:nvSpPr>
        <p:spPr>
          <a:xfrm>
            <a:off x="3451860" y="1691640"/>
            <a:ext cx="2514600" cy="3246120"/>
          </a:xfrm>
          <a:prstGeom prst="roundRect">
            <a:avLst>
              <a:gd name="adj" fmla="val 3273"/>
            </a:avLst>
          </a:prstGeom>
          <a:solidFill>
            <a:srgbClr val="1D7A85"/>
          </a:solidFill>
          <a:ln/>
          <a:effectLst>
            <a:outerShdw blurRad="101600" dist="38100" dir="5400000" algn="bl" rotWithShape="0">
              <a:srgbClr val="1B2A38">
                <a:alpha val="12000"/>
              </a:srgbClr>
            </a:outerShdw>
          </a:effectLst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4548" y="2011680"/>
            <a:ext cx="512064" cy="51206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566160" y="269748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Fusion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3584448" y="3154680"/>
            <a:ext cx="211226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00" dirty="0">
                <a:solidFill>
                  <a:srgbClr val="E4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Bayesian multi-sensor fusion → per-patch posterior mean and variance, weighted by inverse variance.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5897880" y="2994660"/>
            <a:ext cx="320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8A9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800" dirty="0"/>
          </a:p>
        </p:txBody>
      </p:sp>
      <p:sp>
        <p:nvSpPr>
          <p:cNvPr id="14" name="Shape 10"/>
          <p:cNvSpPr/>
          <p:nvPr/>
        </p:nvSpPr>
        <p:spPr>
          <a:xfrm>
            <a:off x="6217920" y="1691640"/>
            <a:ext cx="2514600" cy="3246120"/>
          </a:xfrm>
          <a:prstGeom prst="roundRect">
            <a:avLst>
              <a:gd name="adj" fmla="val 3273"/>
            </a:avLst>
          </a:prstGeom>
          <a:solidFill>
            <a:srgbClr val="0B3D59"/>
          </a:solidFill>
          <a:ln/>
          <a:effectLst>
            <a:outerShdw blurRad="101600" dist="38100" dir="5400000" algn="bl" rotWithShape="0">
              <a:srgbClr val="1B2A38">
                <a:alpha val="12000"/>
              </a:srgbClr>
            </a:outerShdw>
          </a:effectLst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19188" y="2011680"/>
            <a:ext cx="512064" cy="51206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400800" y="269748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Mapping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6419088" y="3154680"/>
            <a:ext cx="211226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00" dirty="0">
                <a:solidFill>
                  <a:srgbClr val="E4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RBF-kernel Gaussian Process interpolates contamination across observed and unobserved patches.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8732520" y="2994660"/>
            <a:ext cx="320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8A9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800" dirty="0"/>
          </a:p>
        </p:txBody>
      </p:sp>
      <p:sp>
        <p:nvSpPr>
          <p:cNvPr id="19" name="Shape 14"/>
          <p:cNvSpPr/>
          <p:nvPr/>
        </p:nvSpPr>
        <p:spPr>
          <a:xfrm>
            <a:off x="9052560" y="1691640"/>
            <a:ext cx="2514600" cy="3246120"/>
          </a:xfrm>
          <a:prstGeom prst="roundRect">
            <a:avLst>
              <a:gd name="adj" fmla="val 3273"/>
            </a:avLst>
          </a:prstGeom>
          <a:solidFill>
            <a:srgbClr val="1D7A85"/>
          </a:solidFill>
          <a:ln/>
          <a:effectLst>
            <a:outerShdw blurRad="101600" dist="38100" dir="5400000" algn="bl" rotWithShape="0">
              <a:srgbClr val="1B2A38">
                <a:alpha val="12000"/>
              </a:srgbClr>
            </a:outerShdw>
          </a:effectLst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53828" y="2011680"/>
            <a:ext cx="512064" cy="51206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235440" y="269748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Decision</a:t>
            </a:r>
            <a:endParaRPr lang="en-US" sz="1500" dirty="0"/>
          </a:p>
        </p:txBody>
      </p:sp>
      <p:sp>
        <p:nvSpPr>
          <p:cNvPr id="22" name="Text 16"/>
          <p:cNvSpPr/>
          <p:nvPr/>
        </p:nvSpPr>
        <p:spPr>
          <a:xfrm>
            <a:off x="9253728" y="3154680"/>
            <a:ext cx="211226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00" dirty="0">
                <a:solidFill>
                  <a:srgbClr val="E4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scoring, adaptive UV dose, and threshold-based HRC collaboration rules.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548640" y="51663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design: each layer can be updated or replaced independently without affecting the others.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Bayesian Fusion + GP Hygiene Monitoring  |  Group 1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D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PROCESS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Modelling Approach — Fusion &amp; Spatial Mapping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486400" cy="45720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blurRad="101600" dist="38100" dir="5400000" algn="bl" rotWithShape="0">
              <a:srgbClr val="1B2A38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7373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Bayesian Multi-Sensor Fusion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1488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z_m,i = f_i + ε_m ,   ε_m ~ N(0, σ²_m)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22960" y="251460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Fused precision:  </a:t>
            </a:r>
            <a:r>
              <a:rPr lang="en-US" sz="11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σ⁻²_fused = σ⁻²₀ + Σ σ⁻²_m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22960" y="283464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Fused mean:  </a:t>
            </a:r>
            <a:r>
              <a:rPr lang="en-US" sz="11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μ_fused = σ²_fused · (μ₀/σ²₀ + Σ z_m/σ²_m)</a:t>
            </a:r>
            <a:endParaRPr lang="en-US" sz="11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9290916"/>
              </p:ext>
            </p:extLst>
          </p:nvPr>
        </p:nvGraphicFramePr>
        <p:xfrm>
          <a:off x="822960" y="3291840"/>
          <a:ext cx="4937760" cy="1554480"/>
        </p:xfrm>
        <a:graphic>
          <a:graphicData uri="http://schemas.openxmlformats.org/drawingml/2006/table">
            <a:tbl>
              <a:tblPr/>
              <a:tblGrid>
                <a:gridCol w="1737360"/>
                <a:gridCol w="685800"/>
                <a:gridCol w="914400"/>
                <a:gridCol w="1600200"/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σ²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Fluorescence (T1,T2)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Most precise sensor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ATP (T7)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 RLU value, Niephaus 2024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 belief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Neutral start, μ₀ = 0.5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822960" y="4892040"/>
            <a:ext cx="4937760" cy="914400"/>
          </a:xfrm>
          <a:prstGeom prst="roundRect">
            <a:avLst>
              <a:gd name="adj" fmla="val 6000"/>
            </a:avLst>
          </a:prstGeom>
          <a:solidFill>
            <a:srgbClr val="E8F1F3"/>
          </a:solidFill>
          <a:ln/>
        </p:spPr>
      </p:sp>
      <p:sp>
        <p:nvSpPr>
          <p:cNvPr id="11" name="Text 8"/>
          <p:cNvSpPr/>
          <p:nvPr/>
        </p:nvSpPr>
        <p:spPr>
          <a:xfrm>
            <a:off x="1005840" y="489204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D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guarantee:  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σ²_fused &lt; σ²_m for every sensor m — adding sensors never increases uncertainty, even noisy ones. Result: 87.3% average variance reduction.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263640" y="1508760"/>
            <a:ext cx="5349240" cy="45720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blurRad="101600" dist="38100" dir="5400000" algn="bl" rotWithShape="0">
              <a:srgbClr val="1B2A38">
                <a:alpha val="1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537960" y="17373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 Process Spatial Mapping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6537960" y="214884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RBF kernel:  k(xᵢ,xⱼ) = σ²_f · exp(−‖xᵢ−xⱼ‖² / 2l²)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537960" y="248716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Length-scale l = 1.0,   Signal variance σ²_f = 1.0</a:t>
            </a:r>
            <a:endParaRPr lang="en-US" sz="1100" dirty="0"/>
          </a:p>
        </p:txBody>
      </p:sp>
      <p:graphicFrame>
        <p:nvGraphicFramePr>
          <p:cNvPr id="16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605221"/>
              </p:ext>
            </p:extLst>
          </p:nvPr>
        </p:nvGraphicFramePr>
        <p:xfrm>
          <a:off x="6537960" y="2880360"/>
          <a:ext cx="4846320" cy="1463040"/>
        </p:xfrm>
        <a:graphic>
          <a:graphicData uri="http://schemas.openxmlformats.org/drawingml/2006/table">
            <a:tbl>
              <a:tblPr/>
              <a:tblGrid>
                <a:gridCol w="1828800"/>
                <a:gridCol w="1188720"/>
                <a:gridCol w="1828800"/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Distance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7A8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Correlation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7A8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7A8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 = 1 (adjacent)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0.607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Strongly correlated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 = √2 (diagonal)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0.368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Moderately correlated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 = 2 (two apart)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0.135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Weakly correlated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7" name="Shape 13"/>
          <p:cNvSpPr/>
          <p:nvPr/>
        </p:nvSpPr>
        <p:spPr>
          <a:xfrm>
            <a:off x="6537960" y="4343400"/>
            <a:ext cx="4846320" cy="1463040"/>
          </a:xfrm>
          <a:prstGeom prst="roundRect">
            <a:avLst>
              <a:gd name="adj" fmla="val 3750"/>
            </a:avLst>
          </a:prstGeom>
          <a:solidFill>
            <a:srgbClr val="FBF1E8"/>
          </a:solidFill>
          <a:ln/>
        </p:spPr>
      </p:sp>
      <p:sp>
        <p:nvSpPr>
          <p:cNvPr id="18" name="Text 14"/>
          <p:cNvSpPr/>
          <p:nvPr/>
        </p:nvSpPr>
        <p:spPr>
          <a:xfrm>
            <a:off x="6720840" y="4343400"/>
            <a:ext cx="4480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E97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 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patch — observed or not — receives a mean estimate and calibrated uncertainty. Unobserved patches inherit higher variance, exactly where human confirmation should be sought. 9/9 spatial coverage achieved vs. 3/9 for a Kalman filter.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Bayesian Fusion + GP Hygiene Monitoring  |  Group 1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3D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97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PROCESS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Roadmap — From Mathematical Model to Hardware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28106" y="2039112"/>
            <a:ext cx="2514600" cy="3566160"/>
          </a:xfrm>
          <a:prstGeom prst="roundRect">
            <a:avLst>
              <a:gd name="adj" fmla="val 3273"/>
            </a:avLst>
          </a:prstGeom>
          <a:solidFill>
            <a:srgbClr val="0E4A66"/>
          </a:solidFill>
          <a:ln w="12700">
            <a:solidFill>
              <a:srgbClr val="1D7A85"/>
            </a:solidFill>
            <a:prstDash val="solid"/>
          </a:ln>
          <a:effectLst>
            <a:outerShdw blurRad="101600" dist="38100" dir="5400000" algn="bl" rotWithShape="0">
              <a:srgbClr val="1B2A38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194560"/>
            <a:ext cx="502920" cy="502920"/>
          </a:xfrm>
          <a:prstGeom prst="ellipse">
            <a:avLst/>
          </a:prstGeom>
          <a:solidFill>
            <a:srgbClr val="E9724C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194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71600" y="225856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8FE3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77240" y="283464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Analytical Validation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777240" y="3337560"/>
            <a:ext cx="2057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CFE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Closed-form Bayesian fusion, RBF-kernel GP formulation, 3×3 grid case study, sensitivity analysis.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063240" y="224028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E7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3427367" y="1990779"/>
            <a:ext cx="2514600" cy="3566160"/>
          </a:xfrm>
          <a:prstGeom prst="roundRect">
            <a:avLst>
              <a:gd name="adj" fmla="val 3273"/>
            </a:avLst>
          </a:prstGeom>
          <a:solidFill>
            <a:srgbClr val="0E4A66"/>
          </a:solidFill>
          <a:ln w="12700">
            <a:solidFill>
              <a:srgbClr val="1D7A85"/>
            </a:solidFill>
            <a:prstDash val="solid"/>
          </a:ln>
          <a:effectLst>
            <a:outerShdw blurRad="101600" dist="38100" dir="5400000" algn="bl" rotWithShape="0">
              <a:srgbClr val="1B2A38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11880" y="2194560"/>
            <a:ext cx="502920" cy="502920"/>
          </a:xfrm>
          <a:prstGeom prst="ellipse">
            <a:avLst/>
          </a:prstGeom>
          <a:solidFill>
            <a:srgbClr val="E9724C"/>
          </a:solidFill>
          <a:ln/>
        </p:spPr>
      </p:sp>
      <p:sp>
        <p:nvSpPr>
          <p:cNvPr id="13" name="Text 11"/>
          <p:cNvSpPr/>
          <p:nvPr/>
        </p:nvSpPr>
        <p:spPr>
          <a:xfrm>
            <a:off x="3611880" y="2194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206240" y="225856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 smtClean="0">
                <a:solidFill>
                  <a:srgbClr val="8FE3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611880" y="283464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3611880" y="3337560"/>
            <a:ext cx="2057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CFE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MATLAB 11-step pipeline: Bayesian fusion, GP mapping (9/9 coverage), Kalman comparison, HRC decisions, Gaussian UV cleaning</a:t>
            </a:r>
            <a:r>
              <a:rPr lang="en-US" sz="1100" dirty="0">
                <a:solidFill>
                  <a:srgbClr val="CFE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897880" y="224028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E7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6377940" y="2039112"/>
            <a:ext cx="2514600" cy="3566160"/>
          </a:xfrm>
          <a:prstGeom prst="roundRect">
            <a:avLst>
              <a:gd name="adj" fmla="val 3273"/>
            </a:avLst>
          </a:prstGeom>
          <a:solidFill>
            <a:srgbClr val="0A324A"/>
          </a:solidFill>
          <a:ln w="12700">
            <a:solidFill>
              <a:srgbClr val="17435C"/>
            </a:solidFill>
            <a:prstDash val="solid"/>
          </a:ln>
          <a:effectLst>
            <a:outerShdw blurRad="101600" dist="38100" dir="5400000" algn="bl" rotWithShape="0">
              <a:srgbClr val="1B2A38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46520" y="2194560"/>
            <a:ext cx="502920" cy="502920"/>
          </a:xfrm>
          <a:prstGeom prst="ellipse">
            <a:avLst/>
          </a:prstGeom>
          <a:solidFill>
            <a:srgbClr val="1D5573"/>
          </a:solidFill>
          <a:ln/>
        </p:spPr>
      </p:sp>
      <p:sp>
        <p:nvSpPr>
          <p:cNvPr id="20" name="Text 18"/>
          <p:cNvSpPr/>
          <p:nvPr/>
        </p:nvSpPr>
        <p:spPr>
          <a:xfrm>
            <a:off x="6446520" y="2194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040880" y="225856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 smtClean="0">
                <a:solidFill>
                  <a:srgbClr val="9F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446520" y="283464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Calibration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6446520" y="3337560"/>
            <a:ext cx="2057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CFE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fluorescence / hyperspectral sensor calibration replacing assumed noise values.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732520" y="224028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9281160" y="2194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281160" y="283464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9281160" y="3337560"/>
            <a:ext cx="2057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48640" y="57607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AFC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here — analytical modelling and MATLAB simulation are </a:t>
            </a:r>
            <a:r>
              <a:rPr lang="en-US" sz="1200" i="1" dirty="0" smtClean="0">
                <a:solidFill>
                  <a:srgbClr val="AFC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r>
              <a:rPr lang="en-US" sz="1200" i="1" dirty="0">
                <a:solidFill>
                  <a:srgbClr val="AFC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8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Bayesian Fusion + GP Hygiene Monitoring  |  Group 1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8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D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DISCUSSION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Validated Performance on a 3×3 Surface-Grid Case Study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251460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blurRad="101600" dist="38100" dir="5400000" algn="bl" rotWithShape="0">
              <a:srgbClr val="1B2A38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527048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87.3%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713232" y="2240280"/>
            <a:ext cx="21854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Uncertainty reduction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13232" y="2551176"/>
            <a:ext cx="2185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0.09 → fused 0.011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37560" y="1417320"/>
            <a:ext cx="251460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blurRad="101600" dist="38100" dir="5400000" algn="bl" rotWithShape="0">
              <a:srgbClr val="1B2A38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74720" y="1527048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D7A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 / 9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502152" y="2240280"/>
            <a:ext cx="21854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coverage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502152" y="2551176"/>
            <a:ext cx="2185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3/9 for Kalman filter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1417320"/>
            <a:ext cx="251460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blurRad="101600" dist="38100" dir="5400000" algn="bl" rotWithShape="0">
              <a:srgbClr val="1B2A38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63640" y="1527048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972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2×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6291072" y="2240280"/>
            <a:ext cx="21854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Fluorescence precision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91072" y="2551176"/>
            <a:ext cx="2185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ATP — most accurate sensor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915400" y="1417320"/>
            <a:ext cx="251460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blurRad="101600" dist="38100" dir="5400000" algn="bl" rotWithShape="0">
              <a:srgbClr val="1B2A38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052560" y="1527048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E7D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51.1%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9079992" y="2240280"/>
            <a:ext cx="21854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 cleaning efficiency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079992" y="2551176"/>
            <a:ext cx="2185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T7 door handle 100% cleaned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3246120"/>
            <a:ext cx="5989320" cy="288036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blurRad="101600" dist="38100" dir="5400000" algn="bl" rotWithShape="0">
              <a:srgbClr val="1B2A38">
                <a:alpha val="12000"/>
              </a:srgbClr>
            </a:outerShdw>
          </a:effectLst>
        </p:spPr>
      </p:sp>
      <p:pic>
        <p:nvPicPr>
          <p:cNvPr id="21" name="Image 0" descr="fig_page9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85800" y="3364992"/>
            <a:ext cx="5715000" cy="233172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685800" y="5742432"/>
            <a:ext cx="5715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 Mapping vs. Kalman Filter — coverage 9/9 vs 3/9, MSE 0.00512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6720840" y="3246120"/>
            <a:ext cx="4892040" cy="2880360"/>
          </a:xfrm>
          <a:prstGeom prst="roundRect">
            <a:avLst>
              <a:gd name="adj" fmla="val 2540"/>
            </a:avLst>
          </a:prstGeom>
          <a:solidFill>
            <a:srgbClr val="0E4A66"/>
          </a:solidFill>
          <a:ln/>
        </p:spPr>
      </p:sp>
      <p:sp>
        <p:nvSpPr>
          <p:cNvPr id="24" name="Text 21"/>
          <p:cNvSpPr/>
          <p:nvPr/>
        </p:nvSpPr>
        <p:spPr>
          <a:xfrm>
            <a:off x="6949440" y="340156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97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6949440" y="3794760"/>
            <a:ext cx="44348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E4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sensor inputs: </a:t>
            </a:r>
            <a:r>
              <a:rPr lang="en-US" sz="1400" dirty="0">
                <a:solidFill>
                  <a:srgbClr val="E4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 Toilet = 0.75, T2 Chair = 0.13 (Fieldhouse 2025), T7 Door handle = 0.91 (Niephaus 2024). GP estimated the remaining 6 blocked tiles via RBF kernel.</a:t>
            </a:r>
            <a:endParaRPr lang="en-US" sz="14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E4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HRC decisions: </a:t>
            </a:r>
            <a:endParaRPr lang="en-US" sz="14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E4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T7 → DISINFECT NOW, T1 → CALL HUMAN, remainder → MONITOR.</a:t>
            </a:r>
            <a:endParaRPr lang="en-US" sz="14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D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Caveat: </a:t>
            </a:r>
            <a:endParaRPr lang="en-US" sz="14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E4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are analytical / simulation </a:t>
            </a:r>
            <a:r>
              <a:rPr lang="en-US" sz="1400" dirty="0" smtClean="0">
                <a:solidFill>
                  <a:srgbClr val="E4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r>
              <a:rPr lang="en-US" sz="1400" dirty="0">
                <a:solidFill>
                  <a:srgbClr val="E4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Bayesian Fusion + GP Hygiene Monitoring  |  Group 1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1016</Words>
  <Application>Microsoft Office PowerPoint</Application>
  <PresentationFormat>Widescreen</PresentationFormat>
  <Paragraphs>186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Bayesian Sensor Fusion &amp; GP Mapping for HRC Hygiene Monitoring</dc:title>
  <dc:subject>PptxGenJS Presentation</dc:subject>
  <dc:creator>Alwa Jyoshna</dc:creator>
  <cp:lastModifiedBy>home</cp:lastModifiedBy>
  <cp:revision>4</cp:revision>
  <dcterms:created xsi:type="dcterms:W3CDTF">2026-07-03T09:49:39Z</dcterms:created>
  <dcterms:modified xsi:type="dcterms:W3CDTF">2026-07-03T10:27:25Z</dcterms:modified>
</cp:coreProperties>
</file>