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0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54864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4864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55448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155448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155448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 smtClean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LITERATURE </a:t>
            </a:r>
            <a:r>
              <a:rPr lang="en-US" sz="1400" b="1" kern="0" spc="3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METHOD OUTLINE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Research Gap to 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Fusion + GP Mapping Method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Human–Robot Collaborative Hygiene Monitoring and Surface Disinfection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2011680" cy="0"/>
          </a:xfrm>
          <a:prstGeom prst="line">
            <a:avLst/>
          </a:prstGeom>
          <a:noFill/>
          <a:ln w="31750">
            <a:solidFill>
              <a:srgbClr val="E0562C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058400" y="4389120"/>
            <a:ext cx="1371600" cy="1371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88423" y="5153297"/>
            <a:ext cx="2207623" cy="2205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Team 1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works spanning shared autonomy, verification, vision-based cleaning, device reprocessing, and HRC adoption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11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Autonomy Disinfection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Sanchez &amp; Smart, 2021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07208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44368" y="2011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44368" y="251460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UV Disinfection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44368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Sanchez &amp; Smart, 2022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65776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02936" y="2011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02936" y="251460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Mobile Manipulation (DeKonBot)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02936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Baumgarten et al., 2022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24344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61504" y="2011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[4]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61504" y="251460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RODI: Robot-Supported Device Reprocessing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61504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Project, 2021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82912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0072" y="2011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[5]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20072" y="251460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in Healthcare: Narrative Review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720072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Weerarathna et al., 2023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 is assessed against four lenses: contamination sensing, cleanliness verification, sensor fusion depth, and spatial mapping coverage.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Comparison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coverage across the five reviewed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1417320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81144" y="1417320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73368" y="1417320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65592" y="1417320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57816" y="1417320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1168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Sanchez &amp; Smart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201168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35424" y="201168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7648" y="201168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19872" y="201168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12096" y="201168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11247120" cy="566928"/>
          </a:xfrm>
          <a:prstGeom prst="rect">
            <a:avLst/>
          </a:prstGeom>
          <a:solidFill>
            <a:srgbClr val="F4F8F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7860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Sanchez &amp; Smart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257860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35424" y="257860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27648" y="257860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19872" y="257860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12096" y="257860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145536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14553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Baumgarten et al.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0" y="3145536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35424" y="3145536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27648" y="3145536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19872" y="3145536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12096" y="3145536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3712464"/>
            <a:ext cx="11247120" cy="566928"/>
          </a:xfrm>
          <a:prstGeom prst="rect">
            <a:avLst/>
          </a:prstGeom>
          <a:solidFill>
            <a:srgbClr val="F4F8F9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71246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RODI / JARVIS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0" y="3712464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35424" y="3712464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27648" y="3712464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19872" y="3712464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12096" y="3712464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4279392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27939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Weerarathna et al.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743200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35424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27648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19872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912096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7200" y="4846320"/>
            <a:ext cx="11247120" cy="566928"/>
          </a:xfrm>
          <a:prstGeom prst="rect">
            <a:avLst/>
          </a:prstGeom>
          <a:solidFill>
            <a:srgbClr val="DCEEE6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84632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2743200" y="484632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35424" y="484632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27648" y="484632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19872" y="484632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912096" y="484632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7200" y="1417320"/>
            <a:ext cx="0" cy="3995928"/>
          </a:xfrm>
          <a:prstGeom prst="line">
            <a:avLst/>
          </a:prstGeom>
          <a:noFill/>
          <a:ln w="9525">
            <a:solidFill>
              <a:srgbClr val="CCD7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0" y="1417320"/>
            <a:ext cx="0" cy="3995928"/>
          </a:xfrm>
          <a:prstGeom prst="line">
            <a:avLst/>
          </a:prstGeom>
          <a:noFill/>
          <a:ln w="9525">
            <a:solidFill>
              <a:srgbClr val="CCD7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35424" y="1417320"/>
            <a:ext cx="0" cy="3995928"/>
          </a:xfrm>
          <a:prstGeom prst="line">
            <a:avLst/>
          </a:prstGeom>
          <a:noFill/>
          <a:ln w="9525">
            <a:solidFill>
              <a:srgbClr val="CCD7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27648" y="1417320"/>
            <a:ext cx="0" cy="3995928"/>
          </a:xfrm>
          <a:prstGeom prst="line">
            <a:avLst/>
          </a:prstGeom>
          <a:noFill/>
          <a:ln w="9525">
            <a:solidFill>
              <a:srgbClr val="CCD7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19872" y="1417320"/>
            <a:ext cx="0" cy="3995928"/>
          </a:xfrm>
          <a:prstGeom prst="line">
            <a:avLst/>
          </a:prstGeom>
          <a:noFill/>
          <a:ln w="9525">
            <a:solidFill>
              <a:srgbClr val="CCD7D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12096" y="1417320"/>
            <a:ext cx="0" cy="3995928"/>
          </a:xfrm>
          <a:prstGeom prst="line">
            <a:avLst/>
          </a:prstGeom>
          <a:noFill/>
          <a:ln w="9525">
            <a:solidFill>
              <a:srgbClr val="CCD7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704320" y="1417320"/>
            <a:ext cx="0" cy="3995928"/>
          </a:xfrm>
          <a:prstGeom prst="line">
            <a:avLst/>
          </a:prstGeom>
          <a:noFill/>
          <a:ln w="9525">
            <a:solidFill>
              <a:srgbClr val="CCD7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5596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is a narrative review (no system to score) — included to frame human-factors context, not technical capability.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Paper Contributes — and Misses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35608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2344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Operator-designated surfaces; autonomous UV motion execution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detection; no hygiene map; no uncertainty model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42616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44144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UV irradiance modeling; dose logging vs. target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17320" y="289864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path-level, not biological; no sensor fusion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849624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64845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point-cloud localization of high-touch objects (45 tested)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17320" y="410565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contamination level estimate; relies on fixed motion templates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5056632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85546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device-reprocessing workflow automation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17320" y="531266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description only; no mathematical contamination model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literature gap maps directly to a component of the proposed method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1A3A5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contamination estimation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55080" y="182880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0E5C66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82880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multi-sensor fusion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1A3A5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path-level verification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69748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0E5C6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9748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Per-patch posterior + uncertainty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1A3A5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in isolation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356616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0E5C66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56616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inverse-variance fusion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1A3A5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3484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coverage of unobserved areas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443484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0E5C66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43484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regression w/ RBF kernel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1A3A5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0352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is perception-limited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530352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0E5C66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530352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HRC decision rules</a:t>
            </a:r>
            <a:endParaRPr lang="en-US" sz="12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075688"/>
            <a:ext cx="219456" cy="219456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944368"/>
            <a:ext cx="219456" cy="219456"/>
          </a:xfrm>
          <a:prstGeom prst="rect">
            <a:avLst/>
          </a:prstGeom>
        </p:spPr>
      </p:pic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3813048"/>
            <a:ext cx="219456" cy="219456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4681728"/>
            <a:ext cx="219456" cy="219456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5550408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sensor data to a hygiene map to a robot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57400" cy="3749040"/>
          </a:xfrm>
          <a:prstGeom prst="roundRect">
            <a:avLst>
              <a:gd name="adj" fmla="val 355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7300" y="1920240"/>
            <a:ext cx="640080" cy="64008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0665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9748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Surface Discretization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17830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split into N patches s_i with 2D coordinates; contamination f_i ∈ [0,1] per patch.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07208" y="1691640"/>
            <a:ext cx="2057400" cy="37490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5868" y="1920240"/>
            <a:ext cx="640080" cy="64008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172" y="20665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6936" y="269748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Sensor Measurement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44368" y="3246120"/>
            <a:ext cx="17830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RGB-D, fluorescence, hyperspectral &amp; UV-dose models each give a noisy reading z = f_i + ε.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65776" y="1691640"/>
            <a:ext cx="2057400" cy="3749040"/>
          </a:xfrm>
          <a:prstGeom prst="roundRect">
            <a:avLst>
              <a:gd name="adj" fmla="val 355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74436" y="1920240"/>
            <a:ext cx="640080" cy="64008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20665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269748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Bayesian Fusion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202936" y="3246120"/>
            <a:ext cx="17830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Inverse-variance weighting yields a closed-form fused posterior mean μ and variance σ² per patch.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24344" y="1691640"/>
            <a:ext cx="2057400" cy="37490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33004" y="1920240"/>
            <a:ext cx="640080" cy="64008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08" y="20665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269748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GP Spatial Mapping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61504" y="3246120"/>
            <a:ext cx="17830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RBF-kernel GP propagates fused posteriors to unobserved patches with calibrated uncertainty.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582912" y="1691640"/>
            <a:ext cx="2057400" cy="3749040"/>
          </a:xfrm>
          <a:prstGeom prst="roundRect">
            <a:avLst>
              <a:gd name="adj" fmla="val 355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91572" y="1920240"/>
            <a:ext cx="640080" cy="64008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7876" y="206654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92640" y="269748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Decision Policy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720072" y="3246120"/>
            <a:ext cx="17830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score, adaptive UV dose, and 4 threshold-based HRC rules drive robot action.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4328" y="3483864"/>
            <a:ext cx="164592" cy="164592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896" y="3483864"/>
            <a:ext cx="164592" cy="164592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1464" y="3483864"/>
            <a:ext cx="164592" cy="164592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3483864"/>
            <a:ext cx="16459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Detail — Bayesian Fusion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Closed-form Gaussian update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z_m,i = f_i + ε_m,   ε_m ~ N(0, σ²_m)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precision: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σ⁻²_fused = σ⁻²₀ + Σ σ⁻²_m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mean: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μ_fused = σ²_fused · (μ₀/σ²₀ + Σ z_m/σ²_m)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5262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guarantee: σ²_fused &lt; σ²_m for every sensor m — adding sensors never increases uncertainty, even noisy ones.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1024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noise variances used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205740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0E5C66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130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0" y="21305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σ² = 0.01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4963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precise — biologically specific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3136392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0E5C6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209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0" y="32095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σ² = 0.04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357530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Noisiest — affected by lighting/specularity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4215384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0E5C6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2885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belief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0" y="42885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σ² = 0.09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46542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starting assumption (μ₀ = 0.5)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Detail — Gaussian Process Mapping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kernel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k(xᵢ, xⱼ) = σ²_f · exp( −‖xᵢ − xⱼ‖² / 2l² 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Length-scale l = 1.0 controls how fast spatial correlation decays with distance.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 posterior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μ* = Kᵀ* (K + Σₙ)⁻¹ y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Σ* = K** − Kᵀ* (K + Σₙ)⁻¹ K*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patch — observed or not — receives a mean estimate and a calibrated uncertainty. Unobserved patches inherit higher variance, exactly where human confirmation should be sought.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143000"/>
            <a:ext cx="5285232" cy="4389120"/>
          </a:xfrm>
          <a:prstGeom prst="roundRect">
            <a:avLst>
              <a:gd name="adj" fmla="val 1667"/>
            </a:avLst>
          </a:prstGeom>
          <a:solidFill>
            <a:srgbClr val="1024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325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vs. spatial correlation (l = 1.0)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29400" y="1920240"/>
            <a:ext cx="4754880" cy="502920"/>
          </a:xfrm>
          <a:prstGeom prst="rect">
            <a:avLst/>
          </a:prstGeom>
          <a:solidFill>
            <a:srgbClr val="0E5C66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1920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52560" y="1920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2468880"/>
            <a:ext cx="4754880" cy="502920"/>
          </a:xfrm>
          <a:prstGeom prst="rect">
            <a:avLst/>
          </a:prstGeom>
          <a:solidFill>
            <a:srgbClr val="16314A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exp(−0.5) = 0.607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3017520"/>
            <a:ext cx="4754880" cy="502920"/>
          </a:xfrm>
          <a:prstGeom prst="rect">
            <a:avLst/>
          </a:prstGeom>
          <a:solidFill>
            <a:srgbClr val="1A3A56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017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52560" y="3017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exp(−2) = 0.135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3566160"/>
            <a:ext cx="4754880" cy="502920"/>
          </a:xfrm>
          <a:prstGeom prst="rect">
            <a:avLst/>
          </a:prstGeom>
          <a:solidFill>
            <a:srgbClr val="1631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566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√2 units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2560" y="3566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exp(−1) = 0.368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4297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patches are treated as more correlated — contamination near a known hotspot is assumed to spread locally, decaying smoothly with distance.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Case: 3×3 Surface Grid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observed patches (Bayesian fusion) + 4 unobserved patches (GP-estimated)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1984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estimate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~0.80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265176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E5C66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651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984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37560" y="265176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651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160020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1984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estimate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~0.65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212080" y="265176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E5C66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651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315468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6304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3538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463040" y="420624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146304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15468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538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0.243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337560" y="420624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2F8F5B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315468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21208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538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estimate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~0.30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212080" y="420624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E5C66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71600" y="470916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4800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463040" y="50932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463040" y="5349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0.794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463040" y="57607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1463040" y="5760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Disinfect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46120" y="470916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337560" y="4800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37560" y="50932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37560" y="5349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0.519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3337560" y="57607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/>
        </p:spPr>
      </p:sp>
      <p:sp>
        <p:nvSpPr>
          <p:cNvPr id="51" name="Text 49"/>
          <p:cNvSpPr/>
          <p:nvPr/>
        </p:nvSpPr>
        <p:spPr>
          <a:xfrm>
            <a:off x="3337560" y="5760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20640" y="470916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12080" y="4800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12080" y="50932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estimate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212080" y="5349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~0.52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5212080" y="57607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E5C66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0" y="5760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15200" y="20116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patches → Disinfect   </a:t>
            </a:r>
            <a:r>
              <a:rPr lang="en-US" sz="12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Clean   </a:t>
            </a: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Monitor   </a:t>
            </a:r>
            <a:r>
              <a:rPr lang="en-US" sz="125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Confirm (human)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7315200" y="329184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GP-estimated patches inherit elevated uncertainty and correctly trigger the human-confirmation rule (σᵢ &gt; 0.3) rather than autonomous action.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Human–Robot Collaboration Rules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threshold rules balance robot autonomy with human oversight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6314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602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973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544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μᵢ &gt; 0.7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23360" y="155448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autonomously disinfects — no confirmation needed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6314A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857500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946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5176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σᵢ &gt; 0.3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023360" y="265176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pauses, flags patch, requests human inspection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6314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54780"/>
            <a:ext cx="548640" cy="54864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919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490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detected nearby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023360" y="374904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source immediately paused for operator safety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6314A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052060"/>
            <a:ext cx="548640" cy="548640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8463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μᵢ &lt; 0.2 and σᵢ &lt; 0.1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023360" y="484632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certified clean, removed from priority queue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analytical validation. Next: simulation, then hardware.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2F8F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Bayesian fusion derivation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RBF-kernel GP formulation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grid analytical case study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(noise, length-scale, prior)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qualitative case studies + baseline comparison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7830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E0562C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7830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Python/MATLAB synthetic-field simulation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real-time map updates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full-pipeline testing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GP for O(n³) scalability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7830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0E5C66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7830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51460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sensor noise calibration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decision-theoretic HRC policy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surface extension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validation on mobile manipulator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78240" y="118872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AF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gaps,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822960" y="2834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a rigorous method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31750">
            <a:solidFill>
              <a:srgbClr val="E056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and discussion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1093</Words>
  <Application>Microsoft Office PowerPoint</Application>
  <PresentationFormat>Widescreen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Map &amp; Method Outline</dc:title>
  <dc:subject>PptxGenJS Presentation</dc:subject>
  <dc:creator>Jyoshna Alwa</dc:creator>
  <cp:lastModifiedBy>home</cp:lastModifiedBy>
  <cp:revision>2</cp:revision>
  <dcterms:created xsi:type="dcterms:W3CDTF">2026-06-17T21:00:42Z</dcterms:created>
  <dcterms:modified xsi:type="dcterms:W3CDTF">2026-07-01T07:33:25Z</dcterms:modified>
</cp:coreProperties>
</file>