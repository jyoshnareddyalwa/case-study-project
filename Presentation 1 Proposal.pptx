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881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54864" cy="54864"/>
          </a:xfrm>
          <a:prstGeom prst="ellipse">
            <a:avLst/>
          </a:prstGeom>
          <a:solidFill>
            <a:srgbClr val="0E5C66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548640"/>
            <a:ext cx="54864" cy="54864"/>
          </a:xfrm>
          <a:prstGeom prst="ellipse">
            <a:avLst/>
          </a:prstGeom>
          <a:solidFill>
            <a:srgbClr val="0E5C66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48640"/>
            <a:ext cx="54864" cy="54864"/>
          </a:xfrm>
          <a:prstGeom prst="ellipse">
            <a:avLst/>
          </a:prstGeom>
          <a:solidFill>
            <a:srgbClr val="0E5C66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1554480"/>
            <a:ext cx="54864" cy="54864"/>
          </a:xfrm>
          <a:prstGeom prst="ellipse">
            <a:avLst/>
          </a:prstGeom>
          <a:solidFill>
            <a:srgbClr val="0E5C66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84080" y="1554480"/>
            <a:ext cx="54864" cy="54864"/>
          </a:xfrm>
          <a:prstGeom prst="ellipse">
            <a:avLst/>
          </a:prstGeom>
          <a:solidFill>
            <a:srgbClr val="0E5C66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0" y="1554480"/>
            <a:ext cx="54864" cy="54864"/>
          </a:xfrm>
          <a:prstGeom prst="ellipse">
            <a:avLst/>
          </a:prstGeom>
          <a:solidFill>
            <a:srgbClr val="0E5C66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 smtClean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1:RESEARCH </a:t>
            </a:r>
            <a:r>
              <a:rPr lang="en-US" sz="1400" b="1" kern="0" spc="300" dirty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Sensor Fusion &amp; Gaussian Process Mapping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EAF3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Human–Robot Collaborative Hygiene Monitoring and Surface Disinfection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31750">
            <a:solidFill>
              <a:srgbClr val="E056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23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058400" y="4297680"/>
            <a:ext cx="1371600" cy="1371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6035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 smtClean="0">
                <a:solidFill>
                  <a:srgbClr val="8F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: Group 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Disinfection robots clean blindly — without knowing what's actually contaminated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10128" cy="3200400"/>
          </a:xfrm>
          <a:prstGeom prst="roundRect">
            <a:avLst>
              <a:gd name="adj" fmla="val 2286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2631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2761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contamination sensing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276148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traverse a fixed path and irradiate or spray on schedule — without sensing whether contamination is actually present.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178808" y="1783080"/>
            <a:ext cx="3310128" cy="3200400"/>
          </a:xfrm>
          <a:prstGeom prst="roundRect">
            <a:avLst>
              <a:gd name="adj" fmla="val 2286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53128" y="21031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148" y="22631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53128" y="2926080"/>
            <a:ext cx="2761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verification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53128" y="3520440"/>
            <a:ext cx="276148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confirm a UV lamp followed its planned path, not that pathogens were actually removed from the surface.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808976" y="1783080"/>
            <a:ext cx="3310128" cy="3200400"/>
          </a:xfrm>
          <a:prstGeom prst="roundRect">
            <a:avLst>
              <a:gd name="adj" fmla="val 2286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83296" y="21031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3316" y="22631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83296" y="2926080"/>
            <a:ext cx="2761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carries the burden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083296" y="3520440"/>
            <a:ext cx="276148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probabilistic hygiene model, the human retains full cognitive responsibility for spotting contaminated areas.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10243E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52578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is spatially uneven, sensing is absent, and verification stops at geometry — not biology.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Gap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interrelated gaps in existing literature motivate this work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88720" y="1783080"/>
            <a:ext cx="10424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17320" y="17830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contamination estimation — systems detect surfaces, not contamination levels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2697480"/>
            <a:ext cx="10424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17320" y="26974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cleanliness verification — path execution confirmed, not biological cleanliness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88720" y="3611880"/>
            <a:ext cx="10424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17320" y="36118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sensor fusion — visual, fluorescence, and dose data used in isolation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8720" y="4526280"/>
            <a:ext cx="10424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17320" y="45262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continuous spatial hygiene map covering unobserved regions with calibrated uncertainty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457200" cy="45720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88720" y="5440680"/>
            <a:ext cx="10424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417320" y="54406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is perception-limited — humans retain full cognitive load for spotting contamination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Bayesian fusion + Gaussian Process hygiene mapping framework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10128" cy="2743200"/>
          </a:xfrm>
          <a:prstGeom prst="roundRect">
            <a:avLst>
              <a:gd name="adj" fmla="val 2667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574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97480"/>
            <a:ext cx="2761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Sensor Fusion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27614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RGB-D, fluorescence, hyperspectral &amp; UV-dose readings into a closed-form posterior, weighted by inverse variance.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78808" y="1783080"/>
            <a:ext cx="3310128" cy="2743200"/>
          </a:xfrm>
          <a:prstGeom prst="roundRect">
            <a:avLst>
              <a:gd name="adj" fmla="val 2667"/>
            </a:avLst>
          </a:prstGeom>
          <a:solidFill>
            <a:srgbClr val="1024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0574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53128" y="2697480"/>
            <a:ext cx="2761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 Process Mapping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453128" y="3246120"/>
            <a:ext cx="27614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RBF-kernel GP interpolates contamination across the full surface — observed and unobserved regions alike.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808976" y="1783080"/>
            <a:ext cx="3310128" cy="2743200"/>
          </a:xfrm>
          <a:prstGeom prst="roundRect">
            <a:avLst>
              <a:gd name="adj" fmla="val 2667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20574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83296" y="2697480"/>
            <a:ext cx="2761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HRC Decision Policy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083296" y="3246120"/>
            <a:ext cx="27614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 priority scoring and threshold rules decide when the robot acts alone vs. defers to a human.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9060" y="3044952"/>
            <a:ext cx="219456" cy="2194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9228" y="3044952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48640" y="4800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calibrated, full-coverage probabilistic hygiene map driving safe, explainable disinfection decisions.</a:t>
            </a:r>
            <a:endParaRPr lang="en-US" sz="14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5486400"/>
            <a:ext cx="502920" cy="502920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5486400"/>
            <a:ext cx="502920" cy="5029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572000" y="6035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cleanliness</a:t>
            </a:r>
            <a:endParaRPr lang="en-US" sz="1100" dirty="0"/>
          </a:p>
        </p:txBody>
      </p:sp>
      <p:sp>
        <p:nvSpPr>
          <p:cNvPr id="22" name="Text 13"/>
          <p:cNvSpPr/>
          <p:nvPr/>
        </p:nvSpPr>
        <p:spPr>
          <a:xfrm>
            <a:off x="6035040" y="6035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uncertainty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sequential layers, from raw sensors to robot action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103120"/>
            <a:ext cx="731520" cy="731520"/>
          </a:xfrm>
          <a:prstGeom prst="ellipse">
            <a:avLst/>
          </a:prstGeom>
          <a:solidFill>
            <a:srgbClr val="0E5C6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772" y="22677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17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Sensing Layer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RGB-D, fluorescence, hyperspectral, UV-dose &amp; human-proximity sensors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816" y="3429000"/>
            <a:ext cx="182880" cy="182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19272" y="18288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10812" y="2103120"/>
            <a:ext cx="731520" cy="731520"/>
          </a:xfrm>
          <a:prstGeom prst="ellipse">
            <a:avLst/>
          </a:prstGeom>
          <a:solidFill>
            <a:srgbClr val="0E5C6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404" y="226771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56432" y="3017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Layer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502152" y="352044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multi-sensor fusion → per-patch posterior mean &amp; variance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3429000"/>
            <a:ext cx="182880" cy="1828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089904" y="18288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981444" y="2103120"/>
            <a:ext cx="731520" cy="731520"/>
          </a:xfrm>
          <a:prstGeom prst="ellipse">
            <a:avLst/>
          </a:prstGeom>
          <a:solidFill>
            <a:srgbClr val="0E5C66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6036" y="2267712"/>
            <a:ext cx="402336" cy="40233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27064" y="3017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Layer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272784" y="352044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regression with RBF kernel → full spatial hygiene map</a:t>
            </a:r>
            <a:endParaRPr lang="en-US" sz="11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3429000"/>
            <a:ext cx="182880" cy="18288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860536" y="18288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752076" y="2103120"/>
            <a:ext cx="731520" cy="731520"/>
          </a:xfrm>
          <a:prstGeom prst="ellipse">
            <a:avLst/>
          </a:prstGeom>
          <a:solidFill>
            <a:srgbClr val="0E5C66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6668" y="2267712"/>
            <a:ext cx="402336" cy="40233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997696" y="3017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Layer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9043416" y="352044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scoring, UV dose, and HRC collaboration rules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design: each layer can be updated or replaced independently without affecting the others.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results on a 3×3 surface-grid case study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E5C6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91.8%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reduction vs. prior belief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E5C66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20116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81.6%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66160" y="278892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over RGB-D-only estimation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E5C6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0116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9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78892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spatial coverage vs. 5/9 for baselines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E5C66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20116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35440" y="278892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coverage gain over non-spatial methods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8862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analytical case studies — uniform contamination, localized hotspot, sparse observations, and sensor failure — confirm the framework behaves correctly under realistic conditions, including graceful fault tolerance when a sensor reading is corrupted.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212080"/>
            <a:ext cx="11064240" cy="0"/>
          </a:xfrm>
          <a:prstGeom prst="line">
            <a:avLst/>
          </a:prstGeom>
          <a:noFill/>
          <a:ln w="12700">
            <a:solidFill>
              <a:srgbClr val="0E5C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caveat:  </a:t>
            </a:r>
            <a:r>
              <a:rPr lang="en-US" sz="125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analytical/mathematical validation, not yet hardware-tested — simulation and physical deployment are the next steps.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310128" cy="3017520"/>
          </a:xfrm>
          <a:prstGeom prst="roundRect">
            <a:avLst>
              <a:gd name="adj" fmla="val 2424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240280"/>
            <a:ext cx="2761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Infection control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22960" y="2788920"/>
            <a:ext cx="27614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disinfection robotics from blind path-following to evidence-based, verifiable cleaning.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178808" y="1371600"/>
            <a:ext cx="3310128" cy="3017520"/>
          </a:xfrm>
          <a:prstGeom prst="roundRect">
            <a:avLst>
              <a:gd name="adj" fmla="val 2424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16459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53128" y="2240280"/>
            <a:ext cx="2761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Safer autonomy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4453128" y="2788920"/>
            <a:ext cx="27614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act independently only when confident, and defer to humans exactly where uncertainty is high.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808976" y="1371600"/>
            <a:ext cx="3310128" cy="3017520"/>
          </a:xfrm>
          <a:prstGeom prst="roundRect">
            <a:avLst>
              <a:gd name="adj" fmla="val 2424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16459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83296" y="2240280"/>
            <a:ext cx="2761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efficiency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8083296" y="2788920"/>
            <a:ext cx="27614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 prioritization avoids wasting UV dwell time on already-clean regions.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66344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10243E"/>
          </a:solidFill>
          <a:ln/>
        </p:spPr>
      </p:sp>
      <p:sp>
        <p:nvSpPr>
          <p:cNvPr id="16" name="Text 11"/>
          <p:cNvSpPr/>
          <p:nvPr/>
        </p:nvSpPr>
        <p:spPr>
          <a:xfrm>
            <a:off x="86868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68680" y="51663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mathematically rigorous foundation that is a natural, well-defined precursor to simulation (Python/ROS 2/Gazebo) and eventual hardware validation on a mobile manipulator platform.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mathematical model to hardware-validated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2148840"/>
            <a:ext cx="0" cy="3680460"/>
          </a:xfrm>
          <a:prstGeom prst="line">
            <a:avLst/>
          </a:prstGeom>
          <a:noFill/>
          <a:ln w="25400">
            <a:solidFill>
              <a:srgbClr val="0E5C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E0562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17320" y="1810512"/>
            <a:ext cx="10058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1810512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Validation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22128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— closed-form math, 3×3 grid case study, sensitivity analysis.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0E5C6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17320" y="2862072"/>
            <a:ext cx="10058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45920" y="2862072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32644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Python/MATLAB synthetic fields; ROS 2 real-time map updates; Gazebo full-pipeline testing.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0E5C6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17320" y="3913632"/>
            <a:ext cx="10058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645920" y="3913632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2608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Calibration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6080" y="43159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fluorescence/hyperspectral sensor calibration replacing assumed noise values.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0E5C66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417320" y="4965192"/>
            <a:ext cx="10058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645920" y="4965192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2608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Validation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926080" y="53675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manipulator deployment in a controlled hospital-room mock-up.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8778240" y="118872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2860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AF3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principled path toward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822960" y="27889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verifiable, autonomous hygiene monitoring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3703320"/>
            <a:ext cx="2011680" cy="0"/>
          </a:xfrm>
          <a:prstGeom prst="line">
            <a:avLst/>
          </a:prstGeom>
          <a:noFill/>
          <a:ln w="31750">
            <a:solidFill>
              <a:srgbClr val="E0562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and discussion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641</Words>
  <Application>Microsoft Office PowerPoint</Application>
  <PresentationFormat>Widescreen</PresentationFormat>
  <Paragraphs>98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Sensor Fusion and GP Mapping for HRC Hygiene Monitoring — Proposal</dc:title>
  <dc:subject>PptxGenJS Presentation</dc:subject>
  <dc:creator>Alwa Jyoshna</dc:creator>
  <cp:lastModifiedBy>home</cp:lastModifiedBy>
  <cp:revision>2</cp:revision>
  <dcterms:created xsi:type="dcterms:W3CDTF">2026-06-17T20:58:35Z</dcterms:created>
  <dcterms:modified xsi:type="dcterms:W3CDTF">2026-07-01T07:38:22Z</dcterms:modified>
</cp:coreProperties>
</file>