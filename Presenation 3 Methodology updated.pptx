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3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 smtClean="0">
                <a:solidFill>
                  <a:srgbClr val="0891B2"/>
                </a:solidFill>
              </a:rPr>
              <a:t xml:space="preserve">Session 3:METHODOLOGY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Bayesian Sensor Fusion &amp;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 xml:space="preserve">Gaussian </a:t>
            </a:r>
            <a:r>
              <a:rPr lang="en-US" sz="3200" b="1" dirty="0" smtClean="0">
                <a:solidFill>
                  <a:srgbClr val="FFFFFF"/>
                </a:solidFill>
              </a:rPr>
              <a:t xml:space="preserve">Process </a:t>
            </a:r>
            <a:r>
              <a:rPr lang="en-US" sz="3200" b="1" dirty="0">
                <a:solidFill>
                  <a:srgbClr val="FFFFFF"/>
                </a:solidFill>
              </a:rPr>
              <a:t>Mapping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C4E0"/>
                </a:solidFill>
              </a:rPr>
              <a:t xml:space="preserve">For Human–Robot Collaborative </a:t>
            </a:r>
            <a:r>
              <a:rPr lang="en-US" sz="1600" dirty="0" smtClean="0">
                <a:solidFill>
                  <a:srgbClr val="A0C4E0"/>
                </a:solidFill>
              </a:rPr>
              <a:t xml:space="preserve">Hygiene Monitoring and Surface </a:t>
            </a:r>
            <a:r>
              <a:rPr lang="en-US" sz="1600" dirty="0">
                <a:solidFill>
                  <a:srgbClr val="A0C4E0"/>
                </a:solidFill>
              </a:rPr>
              <a:t>Disinfection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394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Case Study Assistive Robotics for Improvement Quality of Life</a:t>
            </a: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505974" y="4143811"/>
            <a:ext cx="1407780" cy="69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 smtClean="0">
                <a:solidFill>
                  <a:srgbClr val="92D050"/>
                </a:solidFill>
              </a:rPr>
              <a:t>Presented by:</a:t>
            </a: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Alwa</a:t>
            </a:r>
            <a:r>
              <a:rPr lang="en-US" sz="1200" i="1" dirty="0" smtClean="0">
                <a:solidFill>
                  <a:srgbClr val="92D050"/>
                </a:solidFill>
              </a:rPr>
              <a:t xml:space="preserve"> </a:t>
            </a:r>
            <a:r>
              <a:rPr lang="en-US" sz="1200" i="1" dirty="0" err="1" smtClean="0">
                <a:solidFill>
                  <a:srgbClr val="92D050"/>
                </a:solidFill>
              </a:rPr>
              <a:t>Jyoshna</a:t>
            </a:r>
            <a:endParaRPr lang="en-US" sz="1200" i="1" dirty="0" smtClean="0">
              <a:solidFill>
                <a:srgbClr val="92D050"/>
              </a:solidFill>
            </a:endParaRP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Vallepu</a:t>
            </a:r>
            <a:r>
              <a:rPr lang="en-US" sz="1200" i="1" dirty="0" smtClean="0">
                <a:solidFill>
                  <a:srgbClr val="92D050"/>
                </a:solidFill>
              </a:rPr>
              <a:t xml:space="preserve"> Vishnu</a:t>
            </a: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Kappala</a:t>
            </a:r>
            <a:r>
              <a:rPr lang="en-US" sz="1200" i="1" dirty="0" smtClean="0">
                <a:solidFill>
                  <a:srgbClr val="92D050"/>
                </a:solidFill>
              </a:rPr>
              <a:t xml:space="preserve"> Mahesh</a:t>
            </a:r>
            <a:endParaRPr lang="en-US" sz="12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SESSION OUTLINE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868680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144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 smtClean="0">
                <a:solidFill>
                  <a:srgbClr val="1E293B"/>
                </a:solidFill>
              </a:rPr>
              <a:t xml:space="preserve">Research </a:t>
            </a:r>
            <a:r>
              <a:rPr lang="en-US" sz="1500" dirty="0">
                <a:solidFill>
                  <a:srgbClr val="1E293B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" cy="438912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63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536192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58191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Modelling Approach — Bayesian Sensor Fusion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41148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311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203704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4942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Spatial Mapping — Gaussian Process Regression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4114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986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871216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9169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Model Inputs, Assumptions &amp; Data Sources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41148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661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538728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5844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Decision Policy &amp; HRC Rules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41148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233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206240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2519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End-to-End Process Flowchart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9635" y="414440"/>
            <a:ext cx="263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Existing Disinfection Robots: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92" y="1605133"/>
            <a:ext cx="3019495" cy="28470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605133"/>
            <a:ext cx="2979768" cy="2539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351" y="4144403"/>
            <a:ext cx="1328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Xenex</a:t>
            </a:r>
            <a:r>
              <a:rPr lang="en-US" sz="1400" dirty="0" smtClean="0"/>
              <a:t xml:space="preserve"> Robot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648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RESEARCH CONTEXT &amp;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0D2E5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16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automatic contamination estimation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83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</a:rPr>
              <a:t>Shadowed areas may not receive UV light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Sensors used in isolation, not fused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5409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spatial hygiene map for unobserved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2102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Full cognitive burden remains with operator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896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Proposed Framework Addresses: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4081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 xml:space="preserve">Bayesian Fusion — </a:t>
            </a:r>
            <a:r>
              <a:rPr lang="en-US" sz="1150" dirty="0">
                <a:solidFill>
                  <a:srgbClr val="64748B"/>
                </a:solidFill>
              </a:rPr>
              <a:t>Combines 4 sensor modalities optimally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204825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 xml:space="preserve">GP Spatial Map — </a:t>
            </a:r>
            <a:r>
              <a:rPr lang="en-US" sz="1150" dirty="0">
                <a:solidFill>
                  <a:srgbClr val="64748B"/>
                </a:solidFill>
              </a:rPr>
              <a:t>Covers observed + unobserved patches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26883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651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 xml:space="preserve">Calibrated Uncertainty — </a:t>
            </a:r>
            <a:r>
              <a:rPr lang="en-US" sz="1150" dirty="0">
                <a:solidFill>
                  <a:srgbClr val="64748B"/>
                </a:solidFill>
              </a:rPr>
              <a:t>Quantified confidence at every patch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33284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291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 xml:space="preserve">HRC Decision Rules — </a:t>
            </a:r>
            <a:r>
              <a:rPr lang="en-US" sz="1150" dirty="0">
                <a:solidFill>
                  <a:srgbClr val="64748B"/>
                </a:solidFill>
              </a:rPr>
              <a:t>Autonomy where safe, human input where uncertain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396849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 xml:space="preserve">Cleanliness Verification — </a:t>
            </a:r>
            <a:r>
              <a:rPr lang="en-US" sz="1150" dirty="0">
                <a:solidFill>
                  <a:srgbClr val="64748B"/>
                </a:solidFill>
              </a:rPr>
              <a:t>Probabilistic, not just path-level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MAIN MODELLING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65960" cy="3566160"/>
          </a:xfrm>
          <a:prstGeom prst="rect">
            <a:avLst/>
          </a:prstGeom>
          <a:solidFill>
            <a:srgbClr val="0369A1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Raw multi-modal data acquisition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Fluorescence (T1,T2) · ATP (T7)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841248"/>
            <a:ext cx="1965960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Bayesian Fusion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Precision-weighted posterior per patch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Closed-form Gaussian estimator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6552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841248"/>
            <a:ext cx="1965960" cy="356616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GP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36592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Spatial interpolation via RBF kernel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Full probabilistic hygiene map (9/9 coverage)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92824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841248"/>
            <a:ext cx="1965960" cy="35661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Policy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12864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Priority score · UV exposure 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HRC collaboration rules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Each layer is independently modular and replaceable without affecting the others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BAYESIAN MULTI-SENSOR FUSION —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023360"/>
          </a:xfrm>
          <a:prstGeom prst="rect">
            <a:avLst/>
          </a:prstGeom>
          <a:solidFill>
            <a:srgbClr val="F0F7FB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Sensor Measurement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z_{m,i} = f_i + ε_m,   ε_m ~ N(0, σ²_m)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Fluorescence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59" y="1856232"/>
            <a:ext cx="10749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T1 Toilet, T2 Chair — precision 100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ATP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59" y="2560320"/>
            <a:ext cx="10025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T7 Door handle — precision 50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Prior belief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82112"/>
            <a:ext cx="1002550" cy="27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Neutral start (μ₀ = 0.5)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76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Fused variance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867912"/>
            <a:ext cx="1002550" cy="223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87.3% uncertainty reduction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804672"/>
            <a:ext cx="4434840" cy="402336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896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Closed-Form Posterior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Precision: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664208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σ⁻²_fused = σ⁻²₀ + Σ σ⁻²_m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17720" y="2176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Variance: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468880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σ²_fused = 1 / (σ⁻²₀ + Σ σ⁻²_m)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2980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Mean: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273552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μ_fused = σ²_fused · (μ₀/σ²₀ + Σ z_m/σ²_m)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4114800" cy="749808"/>
          </a:xfrm>
          <a:prstGeom prst="rect">
            <a:avLst/>
          </a:prstGeom>
          <a:solidFill>
            <a:srgbClr val="0E3A5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840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D4F0"/>
                </a:solidFill>
              </a:rPr>
              <a:t>Key Property: σ²_fused &lt; σ²_m for all m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FD4F0"/>
                </a:solidFill>
              </a:rPr>
              <a:t>→ Adding any sensor always reduces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GAUSSIAN PROCESS SPATIAL MAPPING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0F7FB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GP Prior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~ GP( μ₀, k(x, x') 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RBF Kernel:  k(xᵢ,xⱼ) = σ²_f · exp(−‖xᵢ−xⱼ‖²/2l²)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Length-scale l = 1.0,  Signal variance σ²_f = 1.0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761488"/>
            <a:ext cx="4023360" cy="2084832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GP Posterior Equations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55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μ_* = K_*ᵀ (K + Σ_n)⁻¹ 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Σ_* = K_** − K_*ᵀ (K + Σ_n)⁻¹ K_*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0599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8E0"/>
                </a:solidFill>
              </a:rPr>
              <a:t>Σ_n = diag(σ²_fused) from Bayesian fusion outputs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E5A"/>
                </a:solidFill>
              </a:rPr>
              <a:t>Hygiene Map — 3×3 Grid Example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236976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0.689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07608" y="3236976"/>
            <a:ext cx="1188720" cy="804672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0.267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51776" y="3236976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51776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07608" y="2267712"/>
            <a:ext cx="1188720" cy="804672"/>
          </a:xfrm>
          <a:prstGeom prst="rect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07608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51776" y="2267712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51776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51776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0.772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07608" y="1298448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7608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07608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51776" y="1298448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51776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0.576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51776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Disinfect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Monitor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Clean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315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GP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MODEL ASSUMPTIONS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5720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2984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Gaussian Sensor Noise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Each sensor error ε_m ~ N(0, σ²_m). Enables closed-form Bayesian posterior. May not hold for fluorescence on complex surfaces — approximate Bayes (EP/VI) needed if violated.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31136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31136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88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042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Spatial Smoothness (RBF Kernel)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15184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Contamination is spatially correlated with smooth decay over distance. RBF chosen for mathematical tractability. Sudden discontinuities (e.g. sealed patches) require Matérn kernel.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21024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40782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Contamination ∈ [0, 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00507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Scalar bounded representation f_i ∈ [0,1]. Interpretable and compatible with both fusion and GP. Assumes all modalities can be normalised to this range prior to fusion.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41248"/>
            <a:ext cx="45720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2984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914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Independent Sensor Noise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12252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Noise terms of different sensors are mutually independent. Simplifies the precision-sum formula. Cross-sensor correlations (e.g. both affected by lighting) would require a joint noise model.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31136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31136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688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3042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Stationary Contamination During Scan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615184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Surface contamination does not change during a single robot traversal. Valid for single scans; requires recursive Bayesian / Kalman filter extension for continuous temporal monitoring.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21024"/>
            <a:ext cx="45720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40782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6941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Known Sensor Noise Variances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0507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σ²_m values are set from literature. In practice, these must be empirically calibrated from controlled experiments on known ground-truth surfaces before hardware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REQUIRED INPUTS &amp; DATA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32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/ Parameter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 /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Surface patch coordinates x_i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Integer grid {0,1,2}²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03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kernel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618488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mean  μ₀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param.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0.5  (neutral belief)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3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048256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122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variance  σ²₀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31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param.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0.09  (literature)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478024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42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Fluorescence  z_F (T1,T2)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900, 161 RLU (Fieldhouse 2025)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907792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71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ATP reading  z_ATP (T7)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31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data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907 RLU (Niephaus 2024)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layer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337560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401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noise variances σ²_m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31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Calibration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Literature / empirical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03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weights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767328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831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length-scale  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331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Hyperparameter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17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1.0  (cross-validation)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03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RBF kernel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197096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61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signal variance  σ²_f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331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Hyperparameter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617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1.0  (normalised)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03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RBF kernel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28600" y="4626864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6908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Touch frequency  T_i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331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Domain knowledge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17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Clinical / expert input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03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Priority score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DECISION POLICY &amp; HRC RULES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F0F7FB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Priority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  =  w₁·μᵢ  +  w₂·σᵢ  +  w₃·Tᵢ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20640" y="1005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μᵢ = contamination estimate   |   σᵢ = uncertainty   |   Tᵢ = clinical importance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8595360" cy="914400"/>
          </a:xfrm>
          <a:prstGeom prst="rect">
            <a:avLst/>
          </a:prstGeom>
          <a:solidFill>
            <a:srgbClr val="F0F7FB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Adaptive UV Dose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D_req = D_base · (1 + λ·μᵢ + κ·σᵢ)   →   t_i = D_req / I_i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42062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0540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μᵢ &gt; 0.7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AUTONOMOUS DISINFECT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High-confidence contamination detected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999232"/>
            <a:ext cx="42062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0540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σᵢ &gt; 0.3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REQUEST HUMAN INSPECT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Uncertainty too high for autonomous 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13632"/>
            <a:ext cx="4206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Proximity detected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PAUSE UV → SAFETY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439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UV source halted until human clears area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913632"/>
            <a:ext cx="42062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μᵢ &lt; 0.2 &amp; σᵢ &lt; 0.1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CERTIFY CLEAN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4439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Both contamination and uncertainty below threshold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END-TO-END PROCESS FLOWCHART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840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9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Start: Robot Traversal Begins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67128" y="126187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26464"/>
            <a:ext cx="3840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Multi-Sensor Data Acquisition (RGB-D · Fluorescence · Hyperspectral · UV-dose)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67128" y="1883664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48256"/>
            <a:ext cx="384048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Bayesian Fusion per Patch  →  (μ_fused, σ²_fused)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67128" y="2505456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70048"/>
            <a:ext cx="384048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GP Regression over Surface  →  Full Hygiene Map H(xᵢ)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4114800" y="3090672"/>
            <a:ext cx="6400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804672"/>
            <a:ext cx="3840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859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◆ HRC Decision Rule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47688" y="126187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426464"/>
            <a:ext cx="173736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51790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DISINFECT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(μ &gt; 0.7)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1426464"/>
            <a:ext cx="173736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7688" y="151790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(σ &gt; 0.3)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139696"/>
            <a:ext cx="173736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2311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(proximity)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01968" y="2119895"/>
            <a:ext cx="173736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47688" y="22311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(μ&lt;0.2)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40254" y="2741687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927659"/>
            <a:ext cx="3840480" cy="4572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911213"/>
            <a:ext cx="3657600" cy="61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 Update Priority Queue &amp; Map Log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30584" y="337374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565897"/>
            <a:ext cx="3840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6318" y="35810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7. All Patches Done?  →  End / Next Traversal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KEY ANALYTICAL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87.3%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Variance Reduction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vs Prior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0592" y="804672"/>
            <a:ext cx="2011680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50592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Fluorescence precision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vs ATP (100 vs 50)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804672"/>
            <a:ext cx="2011680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 / 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Spatial Coverage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(vs 3/9 Kalman)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804672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03136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HRC Decision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Categories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2286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E5A"/>
                </a:solidFill>
              </a:rPr>
              <a:t>Method Comparison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688336"/>
            <a:ext cx="8686800" cy="36576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MSE (Variance)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063240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0.09000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0/9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447288"/>
            <a:ext cx="8686800" cy="37490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Fluorescence 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0.01000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3/9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831336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Kalman filter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0.00000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949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3/9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4215384"/>
            <a:ext cx="8686800" cy="37490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2608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0.01145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9496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3/9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599432"/>
            <a:ext cx="8686800" cy="37490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Proposed (Bayes+GP)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260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0.00512*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9496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9/9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Yes ✓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* At the 3 observed tiles. Kalman matches Bayesian fusion there but covers only 3/9; GP reaches all 9 tiles with bounded extra uncertainty.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891B2"/>
                </a:solidFill>
              </a:rPr>
              <a:t>METHODOLOGY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Framework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10972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Sensing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2 sensors — Fluorescence (T1,T2) and ATP (T7), real RLU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72768"/>
            <a:ext cx="10972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</a:rPr>
              <a:t>Fusion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Precision-weighted Bayesian posterior → 87.3% variance reduction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10972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Mapping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RBF-kernel GP regression → 9/9 spatial coverage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44368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Decision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4198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Priority score + adaptive dose + 4 HRC collaboration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90B5"/>
                </a:solidFill>
              </a:rPr>
              <a:t>Analytical validation on 3×3 grid confirms mathematical feasibility — simulation &amp; hardware validation as next steps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1198</Words>
  <Application>Microsoft Office PowerPoint</Application>
  <PresentationFormat>On-screen Show (16:9)</PresentationFormat>
  <Paragraphs>276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 – Bayesian Sensor Fusion &amp; GP Hygiene Mapping</dc:title>
  <dc:subject>PptxGenJS Presentation</dc:subject>
  <dc:creator>Jyoshna Alwa</dc:creator>
  <cp:lastModifiedBy>home</cp:lastModifiedBy>
  <cp:revision>7</cp:revision>
  <dcterms:created xsi:type="dcterms:W3CDTF">2026-05-14T11:12:32Z</dcterms:created>
  <dcterms:modified xsi:type="dcterms:W3CDTF">2026-07-01T07:34:34Z</dcterms:modified>
</cp:coreProperties>
</file>